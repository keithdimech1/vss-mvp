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italic.fntdata"/><Relationship Id="rId21" Type="http://schemas.openxmlformats.org/officeDocument/2006/relationships/slide" Target="slides/slide16.xml"/><Relationship Id="rId43" Type="http://schemas.openxmlformats.org/officeDocument/2006/relationships/font" Target="fonts/Robot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c1a18f6c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c1a18f6c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e1aed07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fe1aed0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54ee4712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54ee4712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20955d0b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20955d0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20955d0b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20955d0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20955d0b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20955d0b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20955d0b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20955d0b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20955d0b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20955d0b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20955d0b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20955d0b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2600fe39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2600fe39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54ee471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054ee471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2600fe39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12600fe39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054ee4712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054ee4712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e9a89e80f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e9a89e80f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54ee471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054ee471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054ee4712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054ee4712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71df19e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071df19e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54ee4712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054ee4712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054ee4712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054ee4712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054ee4712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054ee4712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054ee4712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054ee4712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054ee4712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054ee4712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054ee4712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054ee4712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e1aed078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fe1aed07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fe1aed078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fe1aed078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fe1aed078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fe1aed078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e1aed078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fe1aed078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e1aed078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fe1aed078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fe1aed078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fe1aed078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fe1aed078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fe1aed078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fe1aed078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fe1aed078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fe1aed078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fe1aed078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fe1aed078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fe1aed078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f52591b32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f52591b32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e9a89e80f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e9a89e80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csiroau.sharepoint.com/:x:/r/sites/Lithodatshared/_layouts/15/Doc.aspx?sourcedoc=%7B01F2F076-730A-448A-8A23-35A339058DDF%7D&amp;file=ANSTO%20GNIP%20mapping.xlsx&amp;action=default&amp;mobileredirect=true" TargetMode="External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lithodat.atlassian.net/browse/CA-32" TargetMode="External"/><Relationship Id="rId4" Type="http://schemas.openxmlformats.org/officeDocument/2006/relationships/image" Target="../media/image19.png"/><Relationship Id="rId5" Type="http://schemas.openxmlformats.org/officeDocument/2006/relationships/hyperlink" Target="https://docs.google.com/presentation/d/1jI2pCFa_sS55FlHLN9mCgdgwrH-vFye-i6TcxHham6A/edit#slide=id.g3009b42d67f_0_20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hyperlink" Target="https://docs.google.com/spreadsheets/d/1BHN1w1_zBh2qr__xCxBEBaxhxoPrHszlSbtSp-cH7wU/edit?gid=438698195#gid=438698195" TargetMode="External"/><Relationship Id="rId7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24.png"/><Relationship Id="rId7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Isotopes.au Team Meeting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CSIRO &amp; ANSTO</a:t>
            </a:r>
            <a:r>
              <a:rPr lang="en"/>
              <a:t> &amp; </a:t>
            </a:r>
            <a:r>
              <a:rPr lang="en"/>
              <a:t>GA</a:t>
            </a:r>
            <a:r>
              <a:rPr lang="en"/>
              <a:t> &amp; </a:t>
            </a:r>
            <a:r>
              <a:rPr lang="en"/>
              <a:t>Lithodat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4294967295"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isotopes.au is live!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375" y="-12175"/>
            <a:ext cx="2840450" cy="28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22775"/>
            <a:ext cx="6132624" cy="39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Model &amp; Adapters is Basis for UI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325" y="3165252"/>
            <a:ext cx="3876275" cy="1935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>
            <a:stCxn id="70" idx="2"/>
            <a:endCxn id="68" idx="0"/>
          </p:cNvCxnSpPr>
          <p:nvPr/>
        </p:nvCxnSpPr>
        <p:spPr>
          <a:xfrm flipH="1">
            <a:off x="6185463" y="2579052"/>
            <a:ext cx="3600" cy="5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71" name="Google Shape;71;p15"/>
          <p:cNvCxnSpPr/>
          <p:nvPr/>
        </p:nvCxnSpPr>
        <p:spPr>
          <a:xfrm>
            <a:off x="348500" y="2912500"/>
            <a:ext cx="8320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/>
        </p:nvSpPr>
        <p:spPr>
          <a:xfrm>
            <a:off x="236350" y="2474326"/>
            <a:ext cx="430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&amp; Adapters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84550" y="4091800"/>
            <a:ext cx="3237600" cy="877200"/>
          </a:xfrm>
          <a:prstGeom prst="wedgeRoundRectCallout">
            <a:avLst>
              <a:gd fmla="val -35329" name="adj1"/>
              <a:gd fmla="val -139229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This presentation focuses on the </a:t>
            </a:r>
            <a:r>
              <a:rPr b="1" lang="en">
                <a:solidFill>
                  <a:srgbClr val="666666"/>
                </a:solidFill>
              </a:rPr>
              <a:t>Model &amp; Adapter</a:t>
            </a:r>
            <a:r>
              <a:rPr lang="en">
                <a:solidFill>
                  <a:srgbClr val="666666"/>
                </a:solidFill>
              </a:rPr>
              <a:t> development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535046"/>
            <a:ext cx="3226925" cy="2091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175" y="152400"/>
            <a:ext cx="7302274" cy="4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type="title"/>
          </p:nvPr>
        </p:nvSpPr>
        <p:spPr>
          <a:xfrm>
            <a:off x="44875" y="41150"/>
            <a:ext cx="158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State of Adapters 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5930097" y="15937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82" name="Google Shape;82;p16"/>
          <p:cNvSpPr/>
          <p:nvPr/>
        </p:nvSpPr>
        <p:spPr>
          <a:xfrm>
            <a:off x="8297997" y="39645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83" name="Google Shape;83;p16"/>
          <p:cNvSpPr/>
          <p:nvPr/>
        </p:nvSpPr>
        <p:spPr>
          <a:xfrm>
            <a:off x="3542322" y="15184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84" name="Google Shape;84;p16"/>
          <p:cNvSpPr/>
          <p:nvPr/>
        </p:nvSpPr>
        <p:spPr>
          <a:xfrm>
            <a:off x="338010" y="34053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</p:spPr>
      </p:sp>
      <p:sp>
        <p:nvSpPr>
          <p:cNvPr id="85" name="Google Shape;85;p16"/>
          <p:cNvSpPr txBox="1"/>
          <p:nvPr/>
        </p:nvSpPr>
        <p:spPr>
          <a:xfrm>
            <a:off x="93938" y="3999725"/>
            <a:ext cx="117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Completed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374172" y="39645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87" name="Google Shape;87;p16"/>
          <p:cNvSpPr/>
          <p:nvPr/>
        </p:nvSpPr>
        <p:spPr>
          <a:xfrm>
            <a:off x="4649700" y="4567275"/>
            <a:ext cx="1280400" cy="442500"/>
          </a:xfrm>
          <a:prstGeom prst="wedgeRoundRectCallout">
            <a:avLst>
              <a:gd fmla="val 36161" name="adj1"/>
              <a:gd fmla="val -84000" name="adj2"/>
              <a:gd fmla="val 0" name="adj3"/>
            </a:avLst>
          </a:prstGeom>
          <a:solidFill>
            <a:srgbClr val="FFF8E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This one is new since last time.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8026235" y="15937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89" name="Google Shape;89;p16"/>
          <p:cNvSpPr/>
          <p:nvPr/>
        </p:nvSpPr>
        <p:spPr>
          <a:xfrm>
            <a:off x="5775776" y="3839978"/>
            <a:ext cx="919500" cy="919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5892635" y="40321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91" name="Google Shape;91;p16"/>
          <p:cNvSpPr/>
          <p:nvPr/>
        </p:nvSpPr>
        <p:spPr>
          <a:xfrm>
            <a:off x="338010" y="15897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92" name="Google Shape;92;p16"/>
          <p:cNvSpPr txBox="1"/>
          <p:nvPr/>
        </p:nvSpPr>
        <p:spPr>
          <a:xfrm>
            <a:off x="93938" y="2288100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Used in Production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1</a:t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5900" y="0"/>
            <a:ext cx="2948100" cy="296040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865175"/>
            <a:ext cx="5915700" cy="4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13</a:t>
            </a:r>
            <a:r>
              <a:rPr b="1" lang="en" sz="1900">
                <a:solidFill>
                  <a:srgbClr val="1155CC"/>
                </a:solidFill>
              </a:rPr>
              <a:t> of 13</a:t>
            </a:r>
            <a:r>
              <a:rPr lang="en" sz="1900"/>
              <a:t> 	SPECIFIED Mappings IMPLEMENTED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0 of 13</a:t>
            </a:r>
            <a:r>
              <a:rPr lang="en" sz="1900"/>
              <a:t> 		IMPLEMENTED Mappings APPROVED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Visibility: PUBLIC on TEST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Automatic Updates: No</a:t>
            </a:r>
            <a:endParaRPr sz="800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248" y="1932449"/>
            <a:ext cx="218025" cy="2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2</a:t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777" y="-1"/>
            <a:ext cx="2795225" cy="280689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6348775" y="2719675"/>
            <a:ext cx="27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Cath + Jagoda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8455375" y="3385175"/>
            <a:ext cx="6429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link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865175"/>
            <a:ext cx="6037200" cy="4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17 of 17</a:t>
            </a:r>
            <a:r>
              <a:rPr lang="en" sz="1900"/>
              <a:t> 	SPECIFIED Mappings IMPLEMENTED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13</a:t>
            </a:r>
            <a:r>
              <a:rPr b="1" lang="en" sz="1900">
                <a:solidFill>
                  <a:srgbClr val="1155CC"/>
                </a:solidFill>
              </a:rPr>
              <a:t> of 17</a:t>
            </a:r>
            <a:r>
              <a:rPr lang="en" sz="1900"/>
              <a:t> 	IMPLEMENTED Mappings APPROVED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Visibility: PUBLIC on TEST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Automatic Updates: No</a:t>
            </a:r>
            <a:endParaRPr sz="800"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0248" y="1932449"/>
            <a:ext cx="218025" cy="2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3</a:t>
            </a:r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b="1254" l="1380" r="0" t="0"/>
          <a:stretch/>
        </p:blipFill>
        <p:spPr>
          <a:xfrm>
            <a:off x="6429375" y="0"/>
            <a:ext cx="2714625" cy="27885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19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Christoph + Axel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865175"/>
            <a:ext cx="6037200" cy="4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32</a:t>
            </a:r>
            <a:r>
              <a:rPr b="1" lang="en" sz="1900">
                <a:solidFill>
                  <a:srgbClr val="1155CC"/>
                </a:solidFill>
              </a:rPr>
              <a:t> of 32</a:t>
            </a:r>
            <a:r>
              <a:rPr lang="en" sz="1900"/>
              <a:t> 	SPECIFIED Mappings IMPLEMENTED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13 of 32</a:t>
            </a:r>
            <a:r>
              <a:rPr lang="en" sz="1900"/>
              <a:t> 	IMPLEMENTED Mappings APPROVED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Visibility: PUBLIC on TEST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Automatic Updates: </a:t>
            </a:r>
            <a:r>
              <a:rPr lang="en" sz="1600">
                <a:solidFill>
                  <a:srgbClr val="6AA84F"/>
                </a:solidFill>
              </a:rPr>
              <a:t>Yes</a:t>
            </a:r>
            <a:endParaRPr sz="800">
              <a:solidFill>
                <a:srgbClr val="6AA84F"/>
              </a:solidFill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248" y="1932449"/>
            <a:ext cx="218025" cy="2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4</a:t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112" y="0"/>
            <a:ext cx="2776890" cy="28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Nina + Steve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865175"/>
            <a:ext cx="6037200" cy="4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18</a:t>
            </a:r>
            <a:r>
              <a:rPr b="1" lang="en" sz="1900">
                <a:solidFill>
                  <a:srgbClr val="1155CC"/>
                </a:solidFill>
              </a:rPr>
              <a:t> of 49</a:t>
            </a:r>
            <a:r>
              <a:rPr lang="en" sz="1900"/>
              <a:t> 	SPECIFIED Mappings IMPLEMENTED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0</a:t>
            </a:r>
            <a:r>
              <a:rPr b="1" lang="en" sz="1900">
                <a:solidFill>
                  <a:srgbClr val="1155CC"/>
                </a:solidFill>
              </a:rPr>
              <a:t> of 18</a:t>
            </a:r>
            <a:r>
              <a:rPr lang="en" sz="1900"/>
              <a:t> 		IMPLEMENTED Mappings APPROVED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Visibility: PUBLIC on TEST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Automatic Upd</a:t>
            </a:r>
            <a:r>
              <a:rPr lang="en" sz="1600"/>
              <a:t>ates: No</a:t>
            </a:r>
            <a:endParaRPr sz="800">
              <a:solidFill>
                <a:srgbClr val="6AA84F"/>
              </a:solidFill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248" y="1932449"/>
            <a:ext cx="218025" cy="2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/>
          <p:nvPr/>
        </p:nvSpPr>
        <p:spPr>
          <a:xfrm>
            <a:off x="2138150" y="2265225"/>
            <a:ext cx="486000" cy="456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5</a:t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354" y="0"/>
            <a:ext cx="2759649" cy="28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Steph + Geoff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248" y="1932449"/>
            <a:ext cx="218025" cy="2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865175"/>
            <a:ext cx="6037200" cy="4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18 of 22	</a:t>
            </a:r>
            <a:r>
              <a:rPr lang="en" sz="1900"/>
              <a:t>	SPECIFIED Mappings IMPLEMENTED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15 of 18</a:t>
            </a:r>
            <a:r>
              <a:rPr lang="en" sz="1900"/>
              <a:t>		IMPLEMENTED Mappings APPROVED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Visibility: PUBLIC on TEST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Automatic Updates: </a:t>
            </a:r>
            <a:r>
              <a:rPr lang="en" sz="1600">
                <a:solidFill>
                  <a:srgbClr val="6AA84F"/>
                </a:solidFill>
              </a:rPr>
              <a:t>Yes</a:t>
            </a:r>
            <a:endParaRPr sz="8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6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850" y="0"/>
            <a:ext cx="2776505" cy="28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Steph + Geoff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248" y="1932449"/>
            <a:ext cx="218025" cy="2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00450" y="816000"/>
            <a:ext cx="6037200" cy="4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24</a:t>
            </a:r>
            <a:r>
              <a:rPr b="1" lang="en" sz="1900">
                <a:solidFill>
                  <a:srgbClr val="1155CC"/>
                </a:solidFill>
              </a:rPr>
              <a:t> of 24</a:t>
            </a:r>
            <a:r>
              <a:rPr lang="en" sz="1900"/>
              <a:t>		SPECIFIED Mappings IMPLEMENTED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155CC"/>
                </a:solidFill>
              </a:rPr>
              <a:t>23</a:t>
            </a:r>
            <a:r>
              <a:rPr b="1" lang="en" sz="1900">
                <a:solidFill>
                  <a:srgbClr val="1155CC"/>
                </a:solidFill>
              </a:rPr>
              <a:t> of 24</a:t>
            </a:r>
            <a:r>
              <a:rPr lang="en" sz="1900"/>
              <a:t>		IMPLEMENTED Mappings APPROVED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Visibility: PUBLIC on TEST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Automatic Updates: </a:t>
            </a:r>
            <a:r>
              <a:rPr lang="en" sz="1600">
                <a:solidFill>
                  <a:srgbClr val="6AA84F"/>
                </a:solidFill>
              </a:rPr>
              <a:t>Yes</a:t>
            </a:r>
            <a:endParaRPr sz="8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3"/>
          <p:cNvGrpSpPr/>
          <p:nvPr/>
        </p:nvGrpSpPr>
        <p:grpSpPr>
          <a:xfrm>
            <a:off x="392870" y="445624"/>
            <a:ext cx="7837918" cy="4664355"/>
            <a:chOff x="392875" y="941525"/>
            <a:chExt cx="6978824" cy="4168324"/>
          </a:xfrm>
        </p:grpSpPr>
        <p:sp>
          <p:nvSpPr>
            <p:cNvPr id="153" name="Google Shape;153;p23"/>
            <p:cNvSpPr/>
            <p:nvPr/>
          </p:nvSpPr>
          <p:spPr>
            <a:xfrm>
              <a:off x="5744600" y="2217025"/>
              <a:ext cx="1041300" cy="1539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4" name="Google Shape;15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2875" y="941525"/>
              <a:ext cx="6978824" cy="4168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23"/>
            <p:cNvSpPr/>
            <p:nvPr/>
          </p:nvSpPr>
          <p:spPr>
            <a:xfrm>
              <a:off x="5979984" y="3592598"/>
              <a:ext cx="8058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5987219" y="2287393"/>
              <a:ext cx="8688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75234" r="0" t="0"/>
          <a:stretch/>
        </p:blipFill>
        <p:spPr>
          <a:xfrm>
            <a:off x="6251784" y="442420"/>
            <a:ext cx="1941100" cy="466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grpSp>
        <p:nvGrpSpPr>
          <p:cNvPr id="159" name="Google Shape;159;p23"/>
          <p:cNvGrpSpPr/>
          <p:nvPr/>
        </p:nvGrpSpPr>
        <p:grpSpPr>
          <a:xfrm>
            <a:off x="6454887" y="2119610"/>
            <a:ext cx="137473" cy="161410"/>
            <a:chOff x="6439200" y="3003650"/>
            <a:chExt cx="154325" cy="181850"/>
          </a:xfrm>
        </p:grpSpPr>
        <p:sp>
          <p:nvSpPr>
            <p:cNvPr id="160" name="Google Shape;160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23"/>
          <p:cNvSpPr/>
          <p:nvPr/>
        </p:nvSpPr>
        <p:spPr>
          <a:xfrm>
            <a:off x="6057375" y="21142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1</a:t>
            </a:r>
            <a:endParaRPr sz="600"/>
          </a:p>
        </p:txBody>
      </p:sp>
      <p:grpSp>
        <p:nvGrpSpPr>
          <p:cNvPr id="163" name="Google Shape;163;p23"/>
          <p:cNvGrpSpPr/>
          <p:nvPr/>
        </p:nvGrpSpPr>
        <p:grpSpPr>
          <a:xfrm>
            <a:off x="6912087" y="2272010"/>
            <a:ext cx="137473" cy="161410"/>
            <a:chOff x="6439200" y="3003650"/>
            <a:chExt cx="154325" cy="181850"/>
          </a:xfrm>
        </p:grpSpPr>
        <p:sp>
          <p:nvSpPr>
            <p:cNvPr id="164" name="Google Shape;164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23"/>
          <p:cNvSpPr/>
          <p:nvPr/>
        </p:nvSpPr>
        <p:spPr>
          <a:xfrm>
            <a:off x="6514575" y="22666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2</a:t>
            </a:r>
            <a:endParaRPr sz="600"/>
          </a:p>
        </p:txBody>
      </p:sp>
      <p:grpSp>
        <p:nvGrpSpPr>
          <p:cNvPr id="167" name="Google Shape;167;p23"/>
          <p:cNvGrpSpPr/>
          <p:nvPr/>
        </p:nvGrpSpPr>
        <p:grpSpPr>
          <a:xfrm>
            <a:off x="7369287" y="2424410"/>
            <a:ext cx="137473" cy="161410"/>
            <a:chOff x="6439200" y="3003650"/>
            <a:chExt cx="154325" cy="181850"/>
          </a:xfrm>
        </p:grpSpPr>
        <p:sp>
          <p:nvSpPr>
            <p:cNvPr id="168" name="Google Shape;168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23"/>
          <p:cNvSpPr/>
          <p:nvPr/>
        </p:nvSpPr>
        <p:spPr>
          <a:xfrm>
            <a:off x="6971775" y="24190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3</a:t>
            </a:r>
            <a:endParaRPr sz="600"/>
          </a:p>
        </p:txBody>
      </p:sp>
      <p:grpSp>
        <p:nvGrpSpPr>
          <p:cNvPr id="171" name="Google Shape;171;p23"/>
          <p:cNvGrpSpPr/>
          <p:nvPr/>
        </p:nvGrpSpPr>
        <p:grpSpPr>
          <a:xfrm>
            <a:off x="7826487" y="2576810"/>
            <a:ext cx="137473" cy="161410"/>
            <a:chOff x="6439200" y="3003650"/>
            <a:chExt cx="154325" cy="181850"/>
          </a:xfrm>
        </p:grpSpPr>
        <p:sp>
          <p:nvSpPr>
            <p:cNvPr id="172" name="Google Shape;172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23"/>
          <p:cNvSpPr/>
          <p:nvPr/>
        </p:nvSpPr>
        <p:spPr>
          <a:xfrm>
            <a:off x="7428975" y="25714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4</a:t>
            </a:r>
            <a:endParaRPr sz="600"/>
          </a:p>
        </p:txBody>
      </p:sp>
      <p:sp>
        <p:nvSpPr>
          <p:cNvPr id="175" name="Google Shape;175;p23"/>
          <p:cNvSpPr/>
          <p:nvPr/>
        </p:nvSpPr>
        <p:spPr>
          <a:xfrm>
            <a:off x="6646925" y="1953300"/>
            <a:ext cx="1207200" cy="1485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6608400" y="3412900"/>
            <a:ext cx="1169400" cy="1482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7298224" y="1336238"/>
            <a:ext cx="1390551" cy="1300958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178" name="Google Shape;178;p23"/>
          <p:cNvSpPr/>
          <p:nvPr/>
        </p:nvSpPr>
        <p:spPr>
          <a:xfrm>
            <a:off x="7485125" y="4573999"/>
            <a:ext cx="1659000" cy="1485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900" y="23261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4725" y="8883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3451475" y="13901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3634225" y="18192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25"/>
          <p:cNvGrpSpPr/>
          <p:nvPr/>
        </p:nvGrpSpPr>
        <p:grpSpPr>
          <a:xfrm>
            <a:off x="7065825" y="1390088"/>
            <a:ext cx="904600" cy="1678113"/>
            <a:chOff x="6982600" y="177738"/>
            <a:chExt cx="904600" cy="1678113"/>
          </a:xfrm>
        </p:grpSpPr>
        <p:pic>
          <p:nvPicPr>
            <p:cNvPr id="193" name="Google Shape;193;p25"/>
            <p:cNvPicPr preferRelativeResize="0"/>
            <p:nvPr/>
          </p:nvPicPr>
          <p:blipFill rotWithShape="1">
            <a:blip r:embed="rId5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5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5" name="Google Shape;195;p25"/>
          <p:cNvSpPr/>
          <p:nvPr/>
        </p:nvSpPr>
        <p:spPr>
          <a:xfrm>
            <a:off x="4479025" y="13955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196" name="Google Shape;196;p25"/>
          <p:cNvSpPr txBox="1"/>
          <p:nvPr/>
        </p:nvSpPr>
        <p:spPr>
          <a:xfrm rot="1431975">
            <a:off x="5449006" y="16532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197" name="Google Shape;197;p25"/>
          <p:cNvGrpSpPr/>
          <p:nvPr/>
        </p:nvGrpSpPr>
        <p:grpSpPr>
          <a:xfrm>
            <a:off x="387074" y="863050"/>
            <a:ext cx="1514118" cy="1404725"/>
            <a:chOff x="7205063" y="2318745"/>
            <a:chExt cx="1218900" cy="1404725"/>
          </a:xfrm>
        </p:grpSpPr>
        <p:pic>
          <p:nvPicPr>
            <p:cNvPr id="198" name="Google Shape;198;p2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5"/>
            <p:cNvSpPr txBox="1"/>
            <p:nvPr/>
          </p:nvSpPr>
          <p:spPr>
            <a:xfrm>
              <a:off x="7205063" y="3261770"/>
              <a:ext cx="121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Lithodat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200" name="Google Shape;200;p25"/>
          <p:cNvSpPr/>
          <p:nvPr/>
        </p:nvSpPr>
        <p:spPr>
          <a:xfrm>
            <a:off x="159125" y="2267775"/>
            <a:ext cx="1801500" cy="1373400"/>
          </a:xfrm>
          <a:prstGeom prst="wedgeRoundRectCallout">
            <a:avLst>
              <a:gd fmla="val -50352" name="adj1"/>
              <a:gd fmla="val 17557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Lithodat ending round 3 by creating and running new version of adapters.</a:t>
            </a:r>
            <a:endParaRPr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(till Monday 11th with version 0.4.4)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7129200" y="3068200"/>
            <a:ext cx="1801500" cy="1185000"/>
          </a:xfrm>
          <a:prstGeom prst="wedgeRoundRectCallout">
            <a:avLst>
              <a:gd fmla="val -49438" name="adj1"/>
              <a:gd fmla="val 17003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isotope.au experts starting round 4 by comparing source with export files (v0.4.4).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202" name="Google Shape;202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Step: Round 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of Approving the Adapters</a:t>
            </a:r>
            <a:endParaRPr/>
          </a:p>
        </p:txBody>
      </p:sp>
      <p:grpSp>
        <p:nvGrpSpPr>
          <p:cNvPr id="208" name="Google Shape;208;p26"/>
          <p:cNvGrpSpPr/>
          <p:nvPr/>
        </p:nvGrpSpPr>
        <p:grpSpPr>
          <a:xfrm>
            <a:off x="366272" y="1943818"/>
            <a:ext cx="971854" cy="865103"/>
            <a:chOff x="2316074" y="2676425"/>
            <a:chExt cx="922500" cy="835525"/>
          </a:xfrm>
        </p:grpSpPr>
        <p:pic>
          <p:nvPicPr>
            <p:cNvPr id="209" name="Google Shape;209;p26"/>
            <p:cNvPicPr preferRelativeResize="0"/>
            <p:nvPr/>
          </p:nvPicPr>
          <p:blipFill rotWithShape="1">
            <a:blip r:embed="rId3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6"/>
            <p:cNvSpPr txBox="1"/>
            <p:nvPr/>
          </p:nvSpPr>
          <p:spPr>
            <a:xfrm>
              <a:off x="2316074" y="3229650"/>
              <a:ext cx="9225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211" name="Google Shape;211;p26"/>
          <p:cNvGrpSpPr/>
          <p:nvPr/>
        </p:nvGrpSpPr>
        <p:grpSpPr>
          <a:xfrm>
            <a:off x="311697" y="3350126"/>
            <a:ext cx="1211100" cy="844874"/>
            <a:chOff x="5317847" y="4187426"/>
            <a:chExt cx="1211100" cy="844874"/>
          </a:xfrm>
        </p:grpSpPr>
        <p:pic>
          <p:nvPicPr>
            <p:cNvPr id="212" name="Google Shape;212;p26"/>
            <p:cNvPicPr preferRelativeResize="0"/>
            <p:nvPr/>
          </p:nvPicPr>
          <p:blipFill rotWithShape="1">
            <a:blip r:embed="rId3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26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14" name="Google Shape;214;p26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26"/>
          <p:cNvSpPr/>
          <p:nvPr/>
        </p:nvSpPr>
        <p:spPr>
          <a:xfrm rot="5400000">
            <a:off x="644550" y="2848175"/>
            <a:ext cx="545400" cy="367200"/>
          </a:xfrm>
          <a:prstGeom prst="leftRightArrow">
            <a:avLst>
              <a:gd fmla="val 46038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2630125" y="1943825"/>
            <a:ext cx="5847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How to check the mappings:</a:t>
            </a:r>
            <a:endParaRPr b="1" sz="18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Download the latest ontology.xls of your adapter.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Pick a random row from your proprietary.xls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Find the corresponding row in the ontology.xls.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Check the mappings.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Repeat with other row if unsure.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Update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5659125" y="433200"/>
            <a:ext cx="3227400" cy="1383300"/>
          </a:xfrm>
          <a:prstGeom prst="wedgeRoundRectCallout">
            <a:avLst>
              <a:gd fmla="val -23175" name="adj1"/>
              <a:gd fmla="val -50025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</a:rPr>
              <a:t>We are entering Round 4 on Monday coming week. Probably the last Round before going productive.</a:t>
            </a:r>
            <a:endParaRPr b="1" sz="15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 filtering by type on the  UI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sp>
        <p:nvSpPr>
          <p:cNvPr id="236" name="Google Shape;236;p29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7" name="Google Shape;2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/>
          <p:nvPr/>
        </p:nvSpPr>
        <p:spPr>
          <a:xfrm>
            <a:off x="6033150" y="3700625"/>
            <a:ext cx="306600" cy="292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29"/>
          <p:cNvCxnSpPr>
            <a:stCxn id="239" idx="7"/>
          </p:cNvCxnSpPr>
          <p:nvPr/>
        </p:nvCxnSpPr>
        <p:spPr>
          <a:xfrm flipH="1" rot="10800000">
            <a:off x="6294849" y="3476461"/>
            <a:ext cx="221400" cy="26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" name="Google Shape;241;p29"/>
          <p:cNvCxnSpPr>
            <a:stCxn id="242" idx="0"/>
            <a:endCxn id="239" idx="3"/>
          </p:cNvCxnSpPr>
          <p:nvPr/>
        </p:nvCxnSpPr>
        <p:spPr>
          <a:xfrm flipH="1" rot="10800000">
            <a:off x="5923251" y="3950289"/>
            <a:ext cx="154800" cy="24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3" name="Google Shape;243;p29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29"/>
          <p:cNvCxnSpPr>
            <a:stCxn id="237" idx="0"/>
            <a:endCxn id="243" idx="3"/>
          </p:cNvCxnSpPr>
          <p:nvPr/>
        </p:nvCxnSpPr>
        <p:spPr>
          <a:xfrm rot="10800000">
            <a:off x="5876288" y="2442302"/>
            <a:ext cx="929700" cy="61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245" name="Google Shape;245;p29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246" name="Google Shape;246;p29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9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48" name="Google Shape;248;p29"/>
          <p:cNvSpPr/>
          <p:nvPr/>
        </p:nvSpPr>
        <p:spPr>
          <a:xfrm>
            <a:off x="5502350" y="4194200"/>
            <a:ext cx="842100" cy="76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9"/>
          <p:cNvSpPr/>
          <p:nvPr/>
        </p:nvSpPr>
        <p:spPr>
          <a:xfrm>
            <a:off x="1607325" y="2781050"/>
            <a:ext cx="2496900" cy="695400"/>
          </a:xfrm>
          <a:prstGeom prst="wedgeRoundRectCallout">
            <a:avLst>
              <a:gd fmla="val 127552" name="adj1"/>
              <a:gd fmla="val 88686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proprietary input data gets translated (aka. mapped).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30"/>
          <p:cNvGrpSpPr/>
          <p:nvPr/>
        </p:nvGrpSpPr>
        <p:grpSpPr>
          <a:xfrm>
            <a:off x="2316074" y="2676425"/>
            <a:ext cx="922500" cy="845725"/>
            <a:chOff x="2316074" y="2676425"/>
            <a:chExt cx="922500" cy="845725"/>
          </a:xfrm>
        </p:grpSpPr>
        <p:pic>
          <p:nvPicPr>
            <p:cNvPr id="258" name="Google Shape;258;p30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30"/>
            <p:cNvSpPr txBox="1"/>
            <p:nvPr/>
          </p:nvSpPr>
          <p:spPr>
            <a:xfrm>
              <a:off x="2316074" y="3229650"/>
              <a:ext cx="922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60" name="Google Shape;260;p30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30"/>
          <p:cNvCxnSpPr>
            <a:stCxn id="260" idx="1"/>
          </p:cNvCxnSpPr>
          <p:nvPr/>
        </p:nvCxnSpPr>
        <p:spPr>
          <a:xfrm flipH="1">
            <a:off x="3214850" y="2442400"/>
            <a:ext cx="2077800" cy="33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2" name="Google Shape;262;p30"/>
          <p:cNvSpPr/>
          <p:nvPr/>
        </p:nvSpPr>
        <p:spPr>
          <a:xfrm>
            <a:off x="4796900" y="2898488"/>
            <a:ext cx="785100" cy="267000"/>
          </a:xfrm>
          <a:prstGeom prst="wedgeRectCallout">
            <a:avLst>
              <a:gd fmla="val 31958" name="adj1"/>
              <a:gd fmla="val -161994" name="adj2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</a:rPr>
              <a:t>CLICK on DOWNLOAD</a:t>
            </a:r>
            <a:endParaRPr sz="700">
              <a:solidFill>
                <a:srgbClr val="666666"/>
              </a:solidFill>
            </a:endParaRPr>
          </a:p>
        </p:txBody>
      </p:sp>
      <p:grpSp>
        <p:nvGrpSpPr>
          <p:cNvPr id="263" name="Google Shape;263;p30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264" name="Google Shape;264;p30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30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66" name="Google Shape;266;p30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1338200" y="3797800"/>
            <a:ext cx="2496900" cy="695400"/>
          </a:xfrm>
          <a:prstGeom prst="wedgeRoundRectCallout">
            <a:avLst>
              <a:gd fmla="val 74855" name="adj1"/>
              <a:gd fmla="val -213410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data get’s exported in the format of the common ontology.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400" y="1943825"/>
            <a:ext cx="1463276" cy="146327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grpSp>
        <p:nvGrpSpPr>
          <p:cNvPr id="274" name="Google Shape;274;p31"/>
          <p:cNvGrpSpPr/>
          <p:nvPr/>
        </p:nvGrpSpPr>
        <p:grpSpPr>
          <a:xfrm>
            <a:off x="366272" y="1943818"/>
            <a:ext cx="971854" cy="865103"/>
            <a:chOff x="2316074" y="2676425"/>
            <a:chExt cx="922500" cy="835525"/>
          </a:xfrm>
        </p:grpSpPr>
        <p:pic>
          <p:nvPicPr>
            <p:cNvPr id="275" name="Google Shape;275;p31"/>
            <p:cNvPicPr preferRelativeResize="0"/>
            <p:nvPr/>
          </p:nvPicPr>
          <p:blipFill rotWithShape="1">
            <a:blip r:embed="rId4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31"/>
            <p:cNvSpPr txBox="1"/>
            <p:nvPr/>
          </p:nvSpPr>
          <p:spPr>
            <a:xfrm>
              <a:off x="2316074" y="3229650"/>
              <a:ext cx="9225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277" name="Google Shape;277;p31"/>
          <p:cNvGrpSpPr/>
          <p:nvPr/>
        </p:nvGrpSpPr>
        <p:grpSpPr>
          <a:xfrm>
            <a:off x="311697" y="3350126"/>
            <a:ext cx="1211100" cy="844874"/>
            <a:chOff x="5317847" y="4187426"/>
            <a:chExt cx="1211100" cy="844874"/>
          </a:xfrm>
        </p:grpSpPr>
        <p:pic>
          <p:nvPicPr>
            <p:cNvPr id="278" name="Google Shape;278;p31"/>
            <p:cNvPicPr preferRelativeResize="0"/>
            <p:nvPr/>
          </p:nvPicPr>
          <p:blipFill rotWithShape="1">
            <a:blip r:embed="rId4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31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80" name="Google Shape;280;p31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2923150" y="1876550"/>
            <a:ext cx="2496900" cy="695400"/>
          </a:xfrm>
          <a:prstGeom prst="wedgeRoundRectCallout">
            <a:avLst>
              <a:gd fmla="val -126351" name="adj1"/>
              <a:gd fmla="val 114502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But how can the data be </a:t>
            </a:r>
            <a:r>
              <a:rPr lang="en" sz="1200">
                <a:solidFill>
                  <a:srgbClr val="666666"/>
                </a:solidFill>
              </a:rPr>
              <a:t>checked</a:t>
            </a:r>
            <a:r>
              <a:rPr lang="en" sz="1200">
                <a:solidFill>
                  <a:srgbClr val="666666"/>
                </a:solidFill>
              </a:rPr>
              <a:t>?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282" name="Google Shape;282;p31"/>
          <p:cNvSpPr/>
          <p:nvPr/>
        </p:nvSpPr>
        <p:spPr>
          <a:xfrm rot="5400000">
            <a:off x="644550" y="2848175"/>
            <a:ext cx="545400" cy="367200"/>
          </a:xfrm>
          <a:prstGeom prst="leftRightArrow">
            <a:avLst>
              <a:gd fmla="val 46038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“Ready for Production”</a:t>
            </a:r>
            <a:endParaRPr/>
          </a:p>
        </p:txBody>
      </p:sp>
      <p:pic>
        <p:nvPicPr>
          <p:cNvPr id="288" name="Google Shape;2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2683798"/>
            <a:ext cx="7451349" cy="10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2"/>
          <p:cNvSpPr txBox="1"/>
          <p:nvPr/>
        </p:nvSpPr>
        <p:spPr>
          <a:xfrm>
            <a:off x="370925" y="10584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All required fields need to have been approved by an expert.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0" name="Google Shape;290;p32"/>
          <p:cNvSpPr txBox="1"/>
          <p:nvPr/>
        </p:nvSpPr>
        <p:spPr>
          <a:xfrm>
            <a:off x="7224100" y="3046933"/>
            <a:ext cx="68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by Cath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1" name="Google Shape;291;p32"/>
          <p:cNvSpPr txBox="1"/>
          <p:nvPr/>
        </p:nvSpPr>
        <p:spPr>
          <a:xfrm>
            <a:off x="7224100" y="3214285"/>
            <a:ext cx="68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by Cath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2" name="Google Shape;292;p32"/>
          <p:cNvSpPr/>
          <p:nvPr/>
        </p:nvSpPr>
        <p:spPr>
          <a:xfrm>
            <a:off x="7109700" y="3046925"/>
            <a:ext cx="889500" cy="51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2"/>
          <p:cNvSpPr txBox="1"/>
          <p:nvPr/>
        </p:nvSpPr>
        <p:spPr>
          <a:xfrm>
            <a:off x="6673200" y="3682800"/>
            <a:ext cx="132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4" name="Google Shape;294;p32"/>
          <p:cNvSpPr/>
          <p:nvPr/>
        </p:nvSpPr>
        <p:spPr>
          <a:xfrm>
            <a:off x="5891125" y="4107475"/>
            <a:ext cx="2496900" cy="695400"/>
          </a:xfrm>
          <a:prstGeom prst="wedgeRoundRectCallout">
            <a:avLst>
              <a:gd fmla="val 14672" name="adj1"/>
              <a:gd fmla="val -139682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Leave a comment instead of your name in case the mapping is not as expected.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Cycle</a:t>
            </a:r>
            <a:endParaRPr/>
          </a:p>
        </p:txBody>
      </p:sp>
      <p:pic>
        <p:nvPicPr>
          <p:cNvPr id="300" name="Google Shape;3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33"/>
          <p:cNvGrpSpPr/>
          <p:nvPr/>
        </p:nvGrpSpPr>
        <p:grpSpPr>
          <a:xfrm>
            <a:off x="2316074" y="2676425"/>
            <a:ext cx="922500" cy="845725"/>
            <a:chOff x="2316074" y="2676425"/>
            <a:chExt cx="922500" cy="845725"/>
          </a:xfrm>
        </p:grpSpPr>
        <p:pic>
          <p:nvPicPr>
            <p:cNvPr id="303" name="Google Shape;303;p33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33"/>
            <p:cNvSpPr txBox="1"/>
            <p:nvPr/>
          </p:nvSpPr>
          <p:spPr>
            <a:xfrm>
              <a:off x="2316074" y="3229650"/>
              <a:ext cx="922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305" name="Google Shape;305;p33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6" name="Google Shape;306;p33"/>
          <p:cNvCxnSpPr>
            <a:stCxn id="305" idx="1"/>
          </p:cNvCxnSpPr>
          <p:nvPr/>
        </p:nvCxnSpPr>
        <p:spPr>
          <a:xfrm flipH="1">
            <a:off x="3214850" y="2442400"/>
            <a:ext cx="2077800" cy="33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7" name="Google Shape;307;p33"/>
          <p:cNvSpPr/>
          <p:nvPr/>
        </p:nvSpPr>
        <p:spPr>
          <a:xfrm>
            <a:off x="4796900" y="2898488"/>
            <a:ext cx="785100" cy="267000"/>
          </a:xfrm>
          <a:prstGeom prst="wedgeRectCallout">
            <a:avLst>
              <a:gd fmla="val 31958" name="adj1"/>
              <a:gd fmla="val -161994" name="adj2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</a:rPr>
              <a:t>CLICK on DOWNLOAD</a:t>
            </a:r>
            <a:endParaRPr sz="700">
              <a:solidFill>
                <a:srgbClr val="666666"/>
              </a:solidFill>
            </a:endParaRPr>
          </a:p>
        </p:txBody>
      </p:sp>
      <p:grpSp>
        <p:nvGrpSpPr>
          <p:cNvPr id="308" name="Google Shape;308;p33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309" name="Google Shape;309;p33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3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311" name="Google Shape;311;p33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1255950" y="1823950"/>
            <a:ext cx="2496900" cy="695400"/>
          </a:xfrm>
          <a:prstGeom prst="wedgeRoundRectCallout">
            <a:avLst>
              <a:gd fmla="val 21561" name="adj1"/>
              <a:gd fmla="val 73663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data get’s exported in the format of the common ontology.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313" name="Google Shape;313;p33"/>
          <p:cNvSpPr/>
          <p:nvPr/>
        </p:nvSpPr>
        <p:spPr>
          <a:xfrm>
            <a:off x="6033150" y="3700625"/>
            <a:ext cx="306600" cy="292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4" name="Google Shape;314;p33"/>
          <p:cNvCxnSpPr>
            <a:stCxn id="313" idx="7"/>
          </p:cNvCxnSpPr>
          <p:nvPr/>
        </p:nvCxnSpPr>
        <p:spPr>
          <a:xfrm flipH="1" rot="10800000">
            <a:off x="6294849" y="3476461"/>
            <a:ext cx="221400" cy="26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5" name="Google Shape;315;p33"/>
          <p:cNvCxnSpPr>
            <a:endCxn id="313" idx="3"/>
          </p:cNvCxnSpPr>
          <p:nvPr/>
        </p:nvCxnSpPr>
        <p:spPr>
          <a:xfrm flipH="1" rot="10800000">
            <a:off x="5923251" y="3950289"/>
            <a:ext cx="154800" cy="24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6" name="Google Shape;316;p33"/>
          <p:cNvCxnSpPr/>
          <p:nvPr/>
        </p:nvCxnSpPr>
        <p:spPr>
          <a:xfrm rot="10800000">
            <a:off x="5876288" y="2442302"/>
            <a:ext cx="929700" cy="61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7" name="Google Shape;317;p33"/>
          <p:cNvSpPr/>
          <p:nvPr/>
        </p:nvSpPr>
        <p:spPr>
          <a:xfrm>
            <a:off x="5502350" y="4194200"/>
            <a:ext cx="842100" cy="76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3"/>
          <p:cNvSpPr/>
          <p:nvPr/>
        </p:nvSpPr>
        <p:spPr>
          <a:xfrm>
            <a:off x="1528875" y="3610900"/>
            <a:ext cx="2496900" cy="695400"/>
          </a:xfrm>
          <a:prstGeom prst="wedgeRoundRectCallout">
            <a:avLst>
              <a:gd fmla="val 134885" name="adj1"/>
              <a:gd fmla="val -24195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proprietary input data gets translated (aka. mapped).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filters</a:t>
            </a:r>
            <a:endParaRPr/>
          </a:p>
        </p:txBody>
      </p:sp>
      <p:pic>
        <p:nvPicPr>
          <p:cNvPr id="324" name="Google Shape;3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00975"/>
            <a:ext cx="8839198" cy="304007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4"/>
          <p:cNvSpPr/>
          <p:nvPr/>
        </p:nvSpPr>
        <p:spPr>
          <a:xfrm>
            <a:off x="988410" y="198802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6" name="Google Shape;326;p34"/>
          <p:cNvSpPr/>
          <p:nvPr/>
        </p:nvSpPr>
        <p:spPr>
          <a:xfrm>
            <a:off x="2837860" y="198802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7" name="Google Shape;327;p34"/>
          <p:cNvSpPr/>
          <p:nvPr/>
        </p:nvSpPr>
        <p:spPr>
          <a:xfrm>
            <a:off x="3849985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8" name="Google Shape;328;p34"/>
          <p:cNvSpPr/>
          <p:nvPr/>
        </p:nvSpPr>
        <p:spPr>
          <a:xfrm>
            <a:off x="5011660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9" name="Google Shape;329;p34"/>
          <p:cNvSpPr/>
          <p:nvPr/>
        </p:nvSpPr>
        <p:spPr>
          <a:xfrm>
            <a:off x="7840460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30" name="Google Shape;330;p34"/>
          <p:cNvSpPr txBox="1"/>
          <p:nvPr/>
        </p:nvSpPr>
        <p:spPr>
          <a:xfrm>
            <a:off x="6449774" y="1628475"/>
            <a:ext cx="471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0000"/>
                </a:solidFill>
              </a:rPr>
              <a:t>!</a:t>
            </a:r>
            <a:endParaRPr sz="7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UI as specified by CSIRO (</a:t>
            </a:r>
            <a:r>
              <a:rPr lang="en" sz="28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2024-09-16</a:t>
            </a:r>
            <a:r>
              <a:rPr lang="en" sz="2800">
                <a:solidFill>
                  <a:srgbClr val="000000"/>
                </a:solidFill>
              </a:rPr>
              <a:t>)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336" name="Google Shape;33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75" y="659493"/>
            <a:ext cx="6244050" cy="427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5"/>
          <p:cNvSpPr txBox="1"/>
          <p:nvPr/>
        </p:nvSpPr>
        <p:spPr>
          <a:xfrm>
            <a:off x="5412625" y="4829400"/>
            <a:ext cx="1981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See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concept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Goal of Today’s Meeting:</a:t>
            </a:r>
            <a:endParaRPr/>
          </a:p>
        </p:txBody>
      </p:sp>
      <p:sp>
        <p:nvSpPr>
          <p:cNvPr id="343" name="Google Shape;343;p36"/>
          <p:cNvSpPr txBox="1"/>
          <p:nvPr>
            <p:ph idx="1" type="body"/>
          </p:nvPr>
        </p:nvSpPr>
        <p:spPr>
          <a:xfrm>
            <a:off x="311700" y="1713150"/>
            <a:ext cx="8520600" cy="22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Understanding the </a:t>
            </a:r>
            <a:r>
              <a:rPr b="1" lang="en" sz="2800"/>
              <a:t>Adapter</a:t>
            </a:r>
            <a:r>
              <a:rPr lang="en" sz="2800"/>
              <a:t> Development Process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The adapters need to implement a lot of expert knowledge. Next slides will show with a concrete example how the knowledge can be transferred from the experts to the developers.</a:t>
            </a:r>
            <a:endParaRPr sz="1700"/>
          </a:p>
        </p:txBody>
      </p:sp>
      <p:sp>
        <p:nvSpPr>
          <p:cNvPr id="344" name="Google Shape;344;p36"/>
          <p:cNvSpPr/>
          <p:nvPr/>
        </p:nvSpPr>
        <p:spPr>
          <a:xfrm>
            <a:off x="231750" y="1712000"/>
            <a:ext cx="7685400" cy="57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50" name="Google Shape;3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37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52" name="Google Shape;35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37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354" name="Google Shape;354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7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56" name="Google Shape;356;p37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8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38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64" name="Google Shape;36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8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366" name="Google Shape;36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9325" y="140225"/>
            <a:ext cx="2054227" cy="1011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8"/>
          <p:cNvSpPr/>
          <p:nvPr/>
        </p:nvSpPr>
        <p:spPr>
          <a:xfrm>
            <a:off x="3180229" y="332292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68" name="Google Shape;368;p38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69" name="Google Shape;369;p38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75" name="Google Shape;37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39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77" name="Google Shape;37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9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379" name="Google Shape;379;p39"/>
          <p:cNvSpPr txBox="1"/>
          <p:nvPr/>
        </p:nvSpPr>
        <p:spPr>
          <a:xfrm>
            <a:off x="7027450" y="2070850"/>
            <a:ext cx="107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6511600" y="237565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Technicals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381" name="Google Shape;381;p39"/>
          <p:cNvSpPr txBox="1"/>
          <p:nvPr/>
        </p:nvSpPr>
        <p:spPr>
          <a:xfrm>
            <a:off x="7838275" y="238330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Mappings</a:t>
            </a:r>
            <a:endParaRPr sz="1700">
              <a:solidFill>
                <a:schemeClr val="dk2"/>
              </a:solidFill>
            </a:endParaRPr>
          </a:p>
        </p:txBody>
      </p:sp>
      <p:cxnSp>
        <p:nvCxnSpPr>
          <p:cNvPr id="382" name="Google Shape;382;p39"/>
          <p:cNvCxnSpPr/>
          <p:nvPr/>
        </p:nvCxnSpPr>
        <p:spPr>
          <a:xfrm>
            <a:off x="7767575" y="2242800"/>
            <a:ext cx="0" cy="156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9"/>
          <p:cNvCxnSpPr>
            <a:endCxn id="380" idx="0"/>
          </p:cNvCxnSpPr>
          <p:nvPr/>
        </p:nvCxnSpPr>
        <p:spPr>
          <a:xfrm flipH="1">
            <a:off x="7117150" y="1367950"/>
            <a:ext cx="732600" cy="10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" name="Google Shape;384;p39"/>
          <p:cNvCxnSpPr>
            <a:stCxn id="378" idx="1"/>
            <a:endCxn id="381" idx="0"/>
          </p:cNvCxnSpPr>
          <p:nvPr/>
        </p:nvCxnSpPr>
        <p:spPr>
          <a:xfrm>
            <a:off x="8081574" y="1411125"/>
            <a:ext cx="362400" cy="9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5" name="Google Shape;385;p39"/>
          <p:cNvSpPr/>
          <p:nvPr/>
        </p:nvSpPr>
        <p:spPr>
          <a:xfrm>
            <a:off x="8100935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86" name="Google Shape;386;p39"/>
          <p:cNvSpPr/>
          <p:nvPr/>
        </p:nvSpPr>
        <p:spPr>
          <a:xfrm>
            <a:off x="6812260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92" name="Google Shape;3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40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394" name="Google Shape;394;p40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395" name="Google Shape;39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6" name="Google Shape;396;p40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397" name="Google Shape;397;p40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98" name="Google Shape;398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p40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40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401" name="Google Shape;401;p40"/>
          <p:cNvCxnSpPr>
            <a:stCxn id="396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2" name="Google Shape;402;p40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03" name="Google Shape;403;p40"/>
          <p:cNvSpPr/>
          <p:nvPr/>
        </p:nvSpPr>
        <p:spPr>
          <a:xfrm>
            <a:off x="5906025" y="2200750"/>
            <a:ext cx="1375500" cy="572700"/>
          </a:xfrm>
          <a:prstGeom prst="wedgeRoundRectCallout">
            <a:avLst>
              <a:gd fmla="val -109784" name="adj1"/>
              <a:gd fmla="val 53942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Coder releases version when finished.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404" name="Google Shape;404;p40"/>
          <p:cNvSpPr/>
          <p:nvPr/>
        </p:nvSpPr>
        <p:spPr>
          <a:xfrm>
            <a:off x="31293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405" name="Google Shape;405;p40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406" name="Google Shape;406;p40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1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14" name="Google Shape;414;p41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5" name="Google Shape;415;p41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416" name="Google Shape;416;p41"/>
            <p:cNvPicPr preferRelativeResize="0"/>
            <p:nvPr/>
          </p:nvPicPr>
          <p:blipFill rotWithShape="1">
            <a:blip r:embed="rId5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41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18" name="Google Shape;418;p41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19" name="Google Shape;419;p4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41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7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421" name="Google Shape;421;p41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2" name="Google Shape;422;p41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424" name="Google Shape;424;p41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4100" y="3519575"/>
            <a:ext cx="396300" cy="3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2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33" name="Google Shape;433;p42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4" name="Google Shape;434;p42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435" name="Google Shape;435;p42"/>
            <p:cNvPicPr preferRelativeResize="0"/>
            <p:nvPr/>
          </p:nvPicPr>
          <p:blipFill rotWithShape="1">
            <a:blip r:embed="rId6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42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37" name="Google Shape;437;p42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38" name="Google Shape;438;p4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" name="Google Shape;439;p42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8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440" name="Google Shape;440;p42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1" name="Google Shape;441;p42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42" name="Google Shape;442;p42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443" name="Google Shape;443;p42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444" name="Google Shape;444;p42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445" name="Google Shape;445;p4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42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447" name="Google Shape;447;p42"/>
          <p:cNvCxnSpPr/>
          <p:nvPr/>
        </p:nvCxnSpPr>
        <p:spPr>
          <a:xfrm>
            <a:off x="7236775" y="2594175"/>
            <a:ext cx="897300" cy="9570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8" name="Google Shape;448;p42"/>
          <p:cNvSpPr txBox="1"/>
          <p:nvPr/>
        </p:nvSpPr>
        <p:spPr>
          <a:xfrm rot="2700000">
            <a:off x="7256190" y="2735209"/>
            <a:ext cx="910471" cy="6465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reports issue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49" name="Google Shape;449;p42"/>
          <p:cNvSpPr txBox="1"/>
          <p:nvPr/>
        </p:nvSpPr>
        <p:spPr>
          <a:xfrm>
            <a:off x="8014250" y="3739775"/>
            <a:ext cx="91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Lian F.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450" name="Google Shape;450;p42"/>
          <p:cNvCxnSpPr/>
          <p:nvPr/>
        </p:nvCxnSpPr>
        <p:spPr>
          <a:xfrm>
            <a:off x="8305850" y="3984725"/>
            <a:ext cx="14700" cy="186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456" name="Google Shape;45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43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458" name="Google Shape;458;p43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459" name="Google Shape;45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43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61" name="Google Shape;461;p43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62" name="Google Shape;462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463;p43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464" name="Google Shape;464;p43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465" name="Google Shape;465;p43"/>
          <p:cNvCxnSpPr>
            <a:stCxn id="460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6" name="Google Shape;466;p43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467" name="Google Shape;467;p43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468" name="Google Shape;468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43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470" name="Google Shape;470;p43"/>
          <p:cNvCxnSpPr/>
          <p:nvPr/>
        </p:nvCxnSpPr>
        <p:spPr>
          <a:xfrm>
            <a:off x="6384525" y="2108225"/>
            <a:ext cx="1644600" cy="2055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1" name="Google Shape;471;p43"/>
          <p:cNvSpPr txBox="1"/>
          <p:nvPr/>
        </p:nvSpPr>
        <p:spPr>
          <a:xfrm rot="3014526">
            <a:off x="6814430" y="2695812"/>
            <a:ext cx="784777" cy="4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477" name="Google Shape;477;p44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478" name="Google Shape;478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9" name="Google Shape;479;p44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480" name="Google Shape;48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4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82" name="Google Shape;482;p44"/>
          <p:cNvSpPr txBox="1"/>
          <p:nvPr/>
        </p:nvSpPr>
        <p:spPr>
          <a:xfrm>
            <a:off x="2068875" y="8339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the expert needs: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83" name="Google Shape;483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5" name="Google Shape;485;p44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486" name="Google Shape;486;p44"/>
            <p:cNvPicPr preferRelativeResize="0"/>
            <p:nvPr/>
          </p:nvPicPr>
          <p:blipFill rotWithShape="1">
            <a:blip r:embed="rId7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4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488" name="Google Shape;488;p44"/>
          <p:cNvCxnSpPr/>
          <p:nvPr/>
        </p:nvCxnSpPr>
        <p:spPr>
          <a:xfrm flipH="1" rot="10800000">
            <a:off x="1394100" y="2304425"/>
            <a:ext cx="1642500" cy="700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44"/>
          <p:cNvCxnSpPr/>
          <p:nvPr/>
        </p:nvCxnSpPr>
        <p:spPr>
          <a:xfrm flipH="1" rot="10800000">
            <a:off x="3615725" y="2821775"/>
            <a:ext cx="95700" cy="545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44"/>
          <p:cNvCxnSpPr/>
          <p:nvPr/>
        </p:nvCxnSpPr>
        <p:spPr>
          <a:xfrm rot="10800000">
            <a:off x="4513300" y="2648100"/>
            <a:ext cx="1374900" cy="693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496" name="Google Shape;496;p45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497" name="Google Shape;497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45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499" name="Google Shape;49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5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01" name="Google Shape;501;p45"/>
          <p:cNvSpPr txBox="1"/>
          <p:nvPr/>
        </p:nvSpPr>
        <p:spPr>
          <a:xfrm>
            <a:off x="2145075" y="6815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to update the spec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02" name="Google Shape;502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4" name="Google Shape;504;p45"/>
          <p:cNvGrpSpPr/>
          <p:nvPr/>
        </p:nvGrpSpPr>
        <p:grpSpPr>
          <a:xfrm>
            <a:off x="6409334" y="766838"/>
            <a:ext cx="1337781" cy="1083336"/>
            <a:chOff x="5658150" y="1181725"/>
            <a:chExt cx="919500" cy="673800"/>
          </a:xfrm>
        </p:grpSpPr>
        <p:pic>
          <p:nvPicPr>
            <p:cNvPr id="505" name="Google Shape;505;p4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919750" y="1181725"/>
              <a:ext cx="396300" cy="39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45"/>
            <p:cNvSpPr txBox="1"/>
            <p:nvPr/>
          </p:nvSpPr>
          <p:spPr>
            <a:xfrm>
              <a:off x="5658150" y="1578025"/>
              <a:ext cx="919500" cy="2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2"/>
                  </a:solidFill>
                </a:rPr>
                <a:t>Lian</a:t>
              </a:r>
              <a:endParaRPr sz="1700">
                <a:solidFill>
                  <a:schemeClr val="dk2"/>
                </a:solidFill>
              </a:endParaRPr>
            </a:p>
          </p:txBody>
        </p:sp>
      </p:grpSp>
      <p:grpSp>
        <p:nvGrpSpPr>
          <p:cNvPr id="507" name="Google Shape;507;p45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508" name="Google Shape;508;p45"/>
            <p:cNvPicPr preferRelativeResize="0"/>
            <p:nvPr/>
          </p:nvPicPr>
          <p:blipFill rotWithShape="1">
            <a:blip r:embed="rId8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p45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510" name="Google Shape;510;p45"/>
          <p:cNvCxnSpPr/>
          <p:nvPr/>
        </p:nvCxnSpPr>
        <p:spPr>
          <a:xfrm>
            <a:off x="4419459" y="2571751"/>
            <a:ext cx="1500300" cy="810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45"/>
          <p:cNvCxnSpPr/>
          <p:nvPr/>
        </p:nvCxnSpPr>
        <p:spPr>
          <a:xfrm flipH="1" rot="10800000">
            <a:off x="4513300" y="1546800"/>
            <a:ext cx="1979700" cy="458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p45"/>
          <p:cNvCxnSpPr/>
          <p:nvPr/>
        </p:nvCxnSpPr>
        <p:spPr>
          <a:xfrm flipH="1">
            <a:off x="6493025" y="2056125"/>
            <a:ext cx="203700" cy="980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45"/>
          <p:cNvSpPr txBox="1"/>
          <p:nvPr/>
        </p:nvSpPr>
        <p:spPr>
          <a:xfrm rot="1703636">
            <a:off x="4571941" y="2565206"/>
            <a:ext cx="1349439" cy="461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comments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514" name="Google Shape;514;p45"/>
          <p:cNvSpPr txBox="1"/>
          <p:nvPr/>
        </p:nvSpPr>
        <p:spPr>
          <a:xfrm rot="-715917">
            <a:off x="4727663" y="1438681"/>
            <a:ext cx="1349457" cy="461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feedback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515" name="Google Shape;515;p45"/>
          <p:cNvSpPr txBox="1"/>
          <p:nvPr/>
        </p:nvSpPr>
        <p:spPr>
          <a:xfrm rot="-4674635">
            <a:off x="5796029" y="2128882"/>
            <a:ext cx="1349325" cy="4617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edits</a:t>
            </a:r>
            <a:endParaRPr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Formular</a:t>
            </a:r>
            <a:endParaRPr/>
          </a:p>
        </p:txBody>
      </p:sp>
      <p:pic>
        <p:nvPicPr>
          <p:cNvPr id="521" name="Google Shape;52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321" y="1587074"/>
            <a:ext cx="2791725" cy="31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All Feedback and Issues can be managed in Jira</a:t>
            </a:r>
            <a:endParaRPr/>
          </a:p>
        </p:txBody>
      </p:sp>
      <p:pic>
        <p:nvPicPr>
          <p:cNvPr id="527" name="Google Shape;5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850" y="931725"/>
            <a:ext cx="4681116" cy="40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Mails with instructions</a:t>
            </a:r>
            <a:endParaRPr/>
          </a:p>
        </p:txBody>
      </p:sp>
      <p:sp>
        <p:nvSpPr>
          <p:cNvPr id="533" name="Google Shape;533;p48"/>
          <p:cNvSpPr txBox="1"/>
          <p:nvPr/>
        </p:nvSpPr>
        <p:spPr>
          <a:xfrm>
            <a:off x="311700" y="1022925"/>
            <a:ext cx="282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Who are the </a:t>
            </a:r>
            <a:r>
              <a:rPr lang="en" sz="1800">
                <a:solidFill>
                  <a:schemeClr val="dk2"/>
                </a:solidFill>
              </a:rPr>
              <a:t>recipients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34" name="Google Shape;5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797650"/>
            <a:ext cx="3603575" cy="20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8"/>
          <p:cNvSpPr/>
          <p:nvPr/>
        </p:nvSpPr>
        <p:spPr>
          <a:xfrm>
            <a:off x="181600" y="186500"/>
            <a:ext cx="5114100" cy="418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