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e1aed0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e1aed0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54ee471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54ee471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054ee471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054ee471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20955d0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20955d0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20955d0b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20955d0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20955d0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20955d0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20955d0b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20955d0b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20955d0b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20955d0b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20955d0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120955d0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2600fe39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12600fe39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2600fe39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2600fe39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054ee4712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054ee4712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054ee471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054ee471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e9a89e80f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e9a89e80f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54ee471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54ee471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054ee4712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054ee4712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71df19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071df19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054ee4712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054ee4712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054ee4712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054ee4712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054ee4712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054ee4712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054ee4712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054ee4712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054ee4712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054ee4712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54ee4712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054ee4712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e1aed07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e1aed07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fe1aed07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fe1aed07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fe1aed078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fe1aed078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e1aed078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fe1aed078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e1aed078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fe1aed078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fe1aed078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fe1aed078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fe1aed078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fe1aed078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fe1aed078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fe1aed078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fe1aed078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fe1aed078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fe1aed078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fe1aed078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f52591b32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f52591b32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e9a89e80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e9a89e80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spreadsheets/d/1e-W2KWq2OmzTgEl0CTMDbblzHfjFX_76/edit?gid=1715805412#gid=1715805412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lithodat.atlassian.net/browse/CA-32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docs.google.com/presentation/d/1jI2pCFa_sS55FlHLN9mCgdgwrH-vFye-i6TcxHham6A/edit#slide=id.g3009b42d67f_0_20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hyperlink" Target="https://docs.google.com/spreadsheets/d/1BHN1w1_zBh2qr__xCxBEBaxhxoPrHszlSbtSp-cH7wU/edit?gid=438698195#gid=438698195" TargetMode="External"/><Relationship Id="rId7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25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Team Meeting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CSIRO &amp; ANSTO</a:t>
            </a:r>
            <a:r>
              <a:rPr lang="en"/>
              <a:t> &amp; </a:t>
            </a:r>
            <a:r>
              <a:rPr lang="en"/>
              <a:t>GA</a:t>
            </a:r>
            <a:r>
              <a:rPr lang="en"/>
              <a:t> &amp; </a:t>
            </a:r>
            <a:r>
              <a:rPr lang="en"/>
              <a:t>Lithodat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Model &amp; Adapters is Basis for UI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280" y="712925"/>
            <a:ext cx="3791501" cy="186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325" y="3165252"/>
            <a:ext cx="3876275" cy="193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>
            <a:stCxn id="61" idx="2"/>
            <a:endCxn id="62" idx="0"/>
          </p:cNvCxnSpPr>
          <p:nvPr/>
        </p:nvCxnSpPr>
        <p:spPr>
          <a:xfrm flipH="1">
            <a:off x="6185430" y="2579050"/>
            <a:ext cx="3600" cy="5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4" name="Google Shape;64;p14"/>
          <p:cNvCxnSpPr/>
          <p:nvPr/>
        </p:nvCxnSpPr>
        <p:spPr>
          <a:xfrm>
            <a:off x="348500" y="2912500"/>
            <a:ext cx="8320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236350" y="2474326"/>
            <a:ext cx="430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&amp; Adapters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84550" y="4091800"/>
            <a:ext cx="3237600" cy="877200"/>
          </a:xfrm>
          <a:prstGeom prst="wedgeRoundRectCallout">
            <a:avLst>
              <a:gd fmla="val -35329" name="adj1"/>
              <a:gd fmla="val -139229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This presentation focuses on the </a:t>
            </a:r>
            <a:r>
              <a:rPr b="1" lang="en">
                <a:solidFill>
                  <a:srgbClr val="666666"/>
                </a:solidFill>
              </a:rPr>
              <a:t>Model &amp; Adapter</a:t>
            </a:r>
            <a:r>
              <a:rPr lang="en">
                <a:solidFill>
                  <a:srgbClr val="666666"/>
                </a:solidFill>
              </a:rPr>
              <a:t> development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175" y="152400"/>
            <a:ext cx="7302274" cy="4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44875" y="41150"/>
            <a:ext cx="15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of Adapters 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930097" y="15937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4" name="Google Shape;74;p15"/>
          <p:cNvSpPr/>
          <p:nvPr/>
        </p:nvSpPr>
        <p:spPr>
          <a:xfrm>
            <a:off x="8297997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5" name="Google Shape;75;p15"/>
          <p:cNvSpPr/>
          <p:nvPr/>
        </p:nvSpPr>
        <p:spPr>
          <a:xfrm>
            <a:off x="3542322" y="15184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6" name="Google Shape;76;p15"/>
          <p:cNvSpPr/>
          <p:nvPr/>
        </p:nvSpPr>
        <p:spPr>
          <a:xfrm>
            <a:off x="338010" y="15003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7" name="Google Shape;77;p15"/>
          <p:cNvSpPr/>
          <p:nvPr/>
        </p:nvSpPr>
        <p:spPr>
          <a:xfrm>
            <a:off x="338010" y="32661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78" name="Google Shape;78;p15"/>
          <p:cNvSpPr txBox="1"/>
          <p:nvPr/>
        </p:nvSpPr>
        <p:spPr>
          <a:xfrm>
            <a:off x="93938" y="2094725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Technically Working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3938" y="396450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Ready for Production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374172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81" name="Google Shape;81;p15"/>
          <p:cNvSpPr/>
          <p:nvPr/>
        </p:nvSpPr>
        <p:spPr>
          <a:xfrm>
            <a:off x="7909376" y="1401578"/>
            <a:ext cx="919500" cy="919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806425" y="2196725"/>
            <a:ext cx="1280400" cy="442500"/>
          </a:xfrm>
          <a:prstGeom prst="wedgeRoundRectCallout">
            <a:avLst>
              <a:gd fmla="val 36161" name="adj1"/>
              <a:gd fmla="val -84000" name="adj2"/>
              <a:gd fmla="val 0" name="adj3"/>
            </a:avLst>
          </a:prstGeom>
          <a:solidFill>
            <a:srgbClr val="FFF8E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This one is new since last time.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8026235" y="15937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“Ready for Production”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2683798"/>
            <a:ext cx="7451349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70925" y="1058450"/>
            <a:ext cx="4687500" cy="864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required fields need to have been approved by an expert.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673200" y="3682800"/>
            <a:ext cx="132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109700" y="3046925"/>
            <a:ext cx="889500" cy="5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891125" y="4107475"/>
            <a:ext cx="2496900" cy="695400"/>
          </a:xfrm>
          <a:prstGeom prst="wedgeRoundRectCallout">
            <a:avLst>
              <a:gd fmla="val 16169" name="adj1"/>
              <a:gd fmla="val -128933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Not approved yet.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2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636575"/>
            <a:ext cx="5579400" cy="45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1155CC"/>
                </a:solidFill>
              </a:rPr>
              <a:t>8</a:t>
            </a:r>
            <a:r>
              <a:rPr b="1" lang="en" sz="2000">
                <a:solidFill>
                  <a:srgbClr val="1155CC"/>
                </a:solidFill>
              </a:rPr>
              <a:t> of 13</a:t>
            </a:r>
            <a:r>
              <a:rPr lang="en" sz="2000"/>
              <a:t> Required Mappings APPROVED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Visibility: PUBLIC on TEST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Automatic Updat</a:t>
            </a:r>
            <a:r>
              <a:rPr lang="en" sz="1700"/>
              <a:t>es: no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Progress on the 13 required fields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Required Fields To Be Specified: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Char char="○"/>
            </a:pPr>
            <a:r>
              <a:rPr b="1" lang="en" sz="1300">
                <a:solidFill>
                  <a:srgbClr val="6AA84F"/>
                </a:solidFill>
              </a:rPr>
              <a:t>none</a:t>
            </a:r>
            <a:endParaRPr b="1" sz="1300">
              <a:solidFill>
                <a:srgbClr val="6AA84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Required Fields To Be Implemented: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Char char="○"/>
            </a:pPr>
            <a:r>
              <a:rPr b="1" lang="en" sz="1300">
                <a:solidFill>
                  <a:srgbClr val="6AA84F"/>
                </a:solidFill>
              </a:rPr>
              <a:t>none</a:t>
            </a:r>
            <a:endParaRPr b="1" sz="1300">
              <a:solidFill>
                <a:srgbClr val="6AA84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Required Fields To Be Approved:</a:t>
            </a:r>
            <a:endParaRPr sz="17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SAMPLE_DATE_START</a:t>
            </a:r>
            <a:endParaRPr sz="10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Publication</a:t>
            </a:r>
            <a:endParaRPr sz="10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Measurements:</a:t>
            </a:r>
            <a:endParaRPr sz="1300"/>
          </a:p>
          <a:p>
            <a:pPr indent="-2857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</a:pPr>
            <a:r>
              <a:rPr lang="en" sz="900"/>
              <a:t>δ2H-H2O (VSMOW)</a:t>
            </a:r>
            <a:endParaRPr sz="90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777" y="-1"/>
            <a:ext cx="2795225" cy="2806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9548" y="1214724"/>
            <a:ext cx="218025" cy="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6348775" y="3329275"/>
            <a:ext cx="27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Cath + Jagoda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3</a:t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 b="1254" l="1380" r="0" t="0"/>
          <a:stretch/>
        </p:blipFill>
        <p:spPr>
          <a:xfrm>
            <a:off x="6429375" y="0"/>
            <a:ext cx="2714625" cy="27885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8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Christoph + Axel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725700"/>
            <a:ext cx="5579400" cy="43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solidFill>
                  <a:srgbClr val="1155CC"/>
                </a:solidFill>
              </a:rPr>
              <a:t>9</a:t>
            </a:r>
            <a:r>
              <a:rPr b="1" lang="en" sz="2100">
                <a:solidFill>
                  <a:srgbClr val="1155CC"/>
                </a:solidFill>
              </a:rPr>
              <a:t> of 18</a:t>
            </a:r>
            <a:r>
              <a:rPr lang="en" sz="2100"/>
              <a:t> Required Mappings APPROVED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Automatic Updates: </a:t>
            </a:r>
            <a:r>
              <a:rPr b="1" lang="en">
                <a:solidFill>
                  <a:srgbClr val="6AA84F"/>
                </a:solidFill>
              </a:rPr>
              <a:t>yes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18 required fields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SAMPLE_PROJECT_DESCRIPTION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SITE_ELEVATION_AHD_M </a:t>
            </a:r>
            <a:r>
              <a:rPr lang="en" sz="700"/>
              <a:t>(consider different cases)</a:t>
            </a:r>
            <a:endParaRPr sz="7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>
                <a:solidFill>
                  <a:srgbClr val="6AA84F"/>
                </a:solidFill>
              </a:rPr>
              <a:t>none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SAMPLE_DATE_START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SAMPLE_TYPE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Measurements:</a:t>
            </a:r>
            <a:endParaRPr sz="1000"/>
          </a:p>
          <a:p>
            <a:pPr indent="-304164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δ13C-DIC (PDB)</a:t>
            </a:r>
            <a:endParaRPr sz="1000"/>
          </a:p>
          <a:p>
            <a:pPr indent="-304164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87Sr/86Sr-Bulk</a:t>
            </a:r>
            <a:endParaRPr sz="10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Other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Filter out records without location</a:t>
            </a:r>
            <a:endParaRPr sz="1000"/>
          </a:p>
        </p:txBody>
      </p:sp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26948" l="0" r="0" t="0"/>
          <a:stretch/>
        </p:blipFill>
        <p:spPr>
          <a:xfrm>
            <a:off x="6429363" y="3917250"/>
            <a:ext cx="2040050" cy="11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5048" y="1272018"/>
            <a:ext cx="218025" cy="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/>
          <p:nvPr/>
        </p:nvSpPr>
        <p:spPr>
          <a:xfrm>
            <a:off x="6549000" y="4304500"/>
            <a:ext cx="1497900" cy="339600"/>
          </a:xfrm>
          <a:prstGeom prst="wedgeRoundRectCallout">
            <a:avLst>
              <a:gd fmla="val 19463" name="adj1"/>
              <a:gd fmla="val -49378" name="adj2"/>
              <a:gd fmla="val 0" name="adj3"/>
            </a:avLst>
          </a:prstGeom>
          <a:solidFill>
            <a:srgbClr val="FFF9E5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Ignoring Data with Exposures lacking lat+lon.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264225" y="4165350"/>
            <a:ext cx="1497900" cy="572700"/>
          </a:xfrm>
          <a:prstGeom prst="wedgeRoundRectCallout">
            <a:avLst>
              <a:gd fmla="val 19463" name="adj1"/>
              <a:gd fmla="val -49378" name="adj2"/>
              <a:gd fmla="val 0" name="adj3"/>
            </a:avLst>
          </a:prstGeom>
          <a:solidFill>
            <a:srgbClr val="FFF9E5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Additional Measurements like Humidity and Precipitation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4</a:t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112" y="0"/>
            <a:ext cx="2776890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Nina + Steve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763700"/>
            <a:ext cx="5579400" cy="44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solidFill>
                  <a:srgbClr val="1155CC"/>
                </a:solidFill>
              </a:rPr>
              <a:t>3</a:t>
            </a:r>
            <a:r>
              <a:rPr b="1" lang="en" sz="2300">
                <a:solidFill>
                  <a:srgbClr val="1155CC"/>
                </a:solidFill>
              </a:rPr>
              <a:t> of 12</a:t>
            </a:r>
            <a:r>
              <a:rPr lang="en" sz="2300"/>
              <a:t> Required Mappings APPROVED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Automatic Up</a:t>
            </a:r>
            <a:r>
              <a:rPr lang="en"/>
              <a:t>dates: no </a:t>
            </a:r>
            <a:r>
              <a:rPr lang="en" sz="1050"/>
              <a:t>(will be coming from DAP)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12 required fields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SAMPLE_PROJECT_DESCRIPTION </a:t>
            </a:r>
            <a:r>
              <a:rPr lang="en" sz="1050"/>
              <a:t>(to come from DAP)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SAMPLE_PROJECT_IDENTIFIER </a:t>
            </a:r>
            <a:r>
              <a:rPr lang="en" sz="1050"/>
              <a:t>(to come from DAP)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PUBLICATION </a:t>
            </a:r>
            <a:r>
              <a:rPr lang="en" sz="1050"/>
              <a:t>(to come from DAP)</a:t>
            </a:r>
            <a:endParaRPr sz="100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>
                <a:solidFill>
                  <a:srgbClr val="6AA84F"/>
                </a:solidFill>
              </a:rPr>
              <a:t>none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SAMPLE_ID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SAMPLE_DATE_START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SITE_ELEVATION_AHD_M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Measurements:</a:t>
            </a:r>
            <a:endParaRPr sz="1000"/>
          </a:p>
          <a:p>
            <a:pPr indent="-297497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δ18O-H2O  (VSMOW)</a:t>
            </a:r>
            <a:endParaRPr sz="1000"/>
          </a:p>
          <a:p>
            <a:pPr indent="-297497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δ2H-H2O (VSMOW)</a:t>
            </a:r>
            <a:endParaRPr sz="1000"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Other</a:t>
            </a:r>
            <a:endParaRPr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provisioning via DAP pending</a:t>
            </a:r>
            <a:endParaRPr sz="1000"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7848" y="1272018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5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354" y="0"/>
            <a:ext cx="2759649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Steph + Geoff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681125"/>
            <a:ext cx="5579400" cy="44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155CC"/>
                </a:solidFill>
              </a:rPr>
              <a:t>5</a:t>
            </a:r>
            <a:r>
              <a:rPr b="1" lang="en">
                <a:solidFill>
                  <a:srgbClr val="1155CC"/>
                </a:solidFill>
              </a:rPr>
              <a:t> of 11</a:t>
            </a:r>
            <a:r>
              <a:rPr lang="en"/>
              <a:t> Required Mappings APPROVED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Automatic Updates: </a:t>
            </a:r>
            <a:r>
              <a:rPr b="1" lang="en">
                <a:solidFill>
                  <a:srgbClr val="93C47D"/>
                </a:solidFill>
              </a:rPr>
              <a:t>yes</a:t>
            </a:r>
            <a:endParaRPr b="1" sz="1050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11 required fields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SAMPLE_PROJECT_DESCRIPTION</a:t>
            </a:r>
            <a:endParaRPr sz="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PUBLICATION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SITE_ELEVATION_AHD_M </a:t>
            </a:r>
            <a:endParaRPr sz="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UI_FILTER_PATH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SAMPLE_DATE_START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SAMPLE_TYPE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5048" y="1272018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6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850" y="0"/>
            <a:ext cx="2776505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Steph + Geoff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763875"/>
            <a:ext cx="5579400" cy="43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</a:rPr>
              <a:t>10 of 16</a:t>
            </a:r>
            <a:r>
              <a:rPr lang="en"/>
              <a:t> Required Mappings APPROVED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Automatic Updates: </a:t>
            </a:r>
            <a:r>
              <a:rPr b="1" lang="en">
                <a:solidFill>
                  <a:srgbClr val="93C47D"/>
                </a:solidFill>
              </a:rPr>
              <a:t>yes</a:t>
            </a:r>
            <a:endParaRPr b="1" sz="1050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16 required fields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SAMPLE_PROJECT_DESCRIPTION (not available)</a:t>
            </a:r>
            <a:endParaRPr sz="1000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SITE_ELEVATION_AHD_M (coming from service)</a:t>
            </a:r>
            <a:endParaRPr sz="10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SAMPLE_DATE_START (see sampling date in feedback)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none</a:t>
            </a:r>
            <a:endParaRPr sz="10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SAMPLE_TYPE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Measurements:</a:t>
            </a:r>
            <a:endParaRPr sz="1000"/>
          </a:p>
          <a:p>
            <a:pPr indent="-304164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δ13C-DIC (PDB)</a:t>
            </a:r>
            <a:endParaRPr sz="10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Other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Ignore records with no measurements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311" y="1227646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1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152475"/>
            <a:ext cx="557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not started yet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Plan: Implementation after  other packages are production ready.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Question: Is the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provided data</a:t>
            </a:r>
            <a:r>
              <a:rPr lang="en"/>
              <a:t> still up-to-date?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900" y="0"/>
            <a:ext cx="2948100" cy="2960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3"/>
          <p:cNvGrpSpPr/>
          <p:nvPr/>
        </p:nvGrpSpPr>
        <p:grpSpPr>
          <a:xfrm>
            <a:off x="392870" y="445624"/>
            <a:ext cx="7837918" cy="4664355"/>
            <a:chOff x="392875" y="941525"/>
            <a:chExt cx="6978824" cy="4168324"/>
          </a:xfrm>
        </p:grpSpPr>
        <p:sp>
          <p:nvSpPr>
            <p:cNvPr id="154" name="Google Shape;154;p23"/>
            <p:cNvSpPr/>
            <p:nvPr/>
          </p:nvSpPr>
          <p:spPr>
            <a:xfrm>
              <a:off x="5744600" y="2217025"/>
              <a:ext cx="1041300" cy="1539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5" name="Google Shape;155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875" y="941525"/>
              <a:ext cx="6978824" cy="416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3"/>
            <p:cNvSpPr/>
            <p:nvPr/>
          </p:nvSpPr>
          <p:spPr>
            <a:xfrm>
              <a:off x="5979984" y="3592598"/>
              <a:ext cx="8058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5987219" y="2287393"/>
              <a:ext cx="8688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75234" r="0" t="0"/>
          <a:stretch/>
        </p:blipFill>
        <p:spPr>
          <a:xfrm>
            <a:off x="6251784" y="442420"/>
            <a:ext cx="1941100" cy="466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160" name="Google Shape;160;p23"/>
          <p:cNvGrpSpPr/>
          <p:nvPr/>
        </p:nvGrpSpPr>
        <p:grpSpPr>
          <a:xfrm>
            <a:off x="6454887" y="2119610"/>
            <a:ext cx="137473" cy="161410"/>
            <a:chOff x="6439200" y="3003650"/>
            <a:chExt cx="154325" cy="181850"/>
          </a:xfrm>
        </p:grpSpPr>
        <p:sp>
          <p:nvSpPr>
            <p:cNvPr id="161" name="Google Shape;161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23"/>
          <p:cNvSpPr/>
          <p:nvPr/>
        </p:nvSpPr>
        <p:spPr>
          <a:xfrm>
            <a:off x="6057375" y="21142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1</a:t>
            </a:r>
            <a:endParaRPr sz="600"/>
          </a:p>
        </p:txBody>
      </p:sp>
      <p:grpSp>
        <p:nvGrpSpPr>
          <p:cNvPr id="164" name="Google Shape;164;p23"/>
          <p:cNvGrpSpPr/>
          <p:nvPr/>
        </p:nvGrpSpPr>
        <p:grpSpPr>
          <a:xfrm>
            <a:off x="6912087" y="2272010"/>
            <a:ext cx="137473" cy="161410"/>
            <a:chOff x="6439200" y="3003650"/>
            <a:chExt cx="154325" cy="181850"/>
          </a:xfrm>
        </p:grpSpPr>
        <p:sp>
          <p:nvSpPr>
            <p:cNvPr id="165" name="Google Shape;165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23"/>
          <p:cNvSpPr/>
          <p:nvPr/>
        </p:nvSpPr>
        <p:spPr>
          <a:xfrm>
            <a:off x="6514575" y="22666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2</a:t>
            </a:r>
            <a:endParaRPr sz="600"/>
          </a:p>
        </p:txBody>
      </p:sp>
      <p:grpSp>
        <p:nvGrpSpPr>
          <p:cNvPr id="168" name="Google Shape;168;p23"/>
          <p:cNvGrpSpPr/>
          <p:nvPr/>
        </p:nvGrpSpPr>
        <p:grpSpPr>
          <a:xfrm>
            <a:off x="7369287" y="2424410"/>
            <a:ext cx="137473" cy="161410"/>
            <a:chOff x="6439200" y="3003650"/>
            <a:chExt cx="154325" cy="181850"/>
          </a:xfrm>
        </p:grpSpPr>
        <p:sp>
          <p:nvSpPr>
            <p:cNvPr id="169" name="Google Shape;169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23"/>
          <p:cNvSpPr/>
          <p:nvPr/>
        </p:nvSpPr>
        <p:spPr>
          <a:xfrm>
            <a:off x="6971775" y="24190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3</a:t>
            </a:r>
            <a:endParaRPr sz="600"/>
          </a:p>
        </p:txBody>
      </p:sp>
      <p:grpSp>
        <p:nvGrpSpPr>
          <p:cNvPr id="172" name="Google Shape;172;p23"/>
          <p:cNvGrpSpPr/>
          <p:nvPr/>
        </p:nvGrpSpPr>
        <p:grpSpPr>
          <a:xfrm>
            <a:off x="7826487" y="2576810"/>
            <a:ext cx="137473" cy="161410"/>
            <a:chOff x="6439200" y="3003650"/>
            <a:chExt cx="154325" cy="181850"/>
          </a:xfrm>
        </p:grpSpPr>
        <p:sp>
          <p:nvSpPr>
            <p:cNvPr id="173" name="Google Shape;173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" name="Google Shape;175;p23"/>
          <p:cNvSpPr/>
          <p:nvPr/>
        </p:nvSpPr>
        <p:spPr>
          <a:xfrm>
            <a:off x="7428975" y="25714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4</a:t>
            </a:r>
            <a:endParaRPr sz="600"/>
          </a:p>
        </p:txBody>
      </p:sp>
      <p:sp>
        <p:nvSpPr>
          <p:cNvPr id="176" name="Google Shape;176;p23"/>
          <p:cNvSpPr/>
          <p:nvPr/>
        </p:nvSpPr>
        <p:spPr>
          <a:xfrm>
            <a:off x="6646925" y="1953300"/>
            <a:ext cx="1207200" cy="1485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6608400" y="3412900"/>
            <a:ext cx="1169400" cy="1482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6296350" y="665400"/>
            <a:ext cx="2535900" cy="818400"/>
          </a:xfrm>
          <a:prstGeom prst="wedgeRoundRectCallout">
            <a:avLst>
              <a:gd fmla="val 7557" name="adj1"/>
              <a:gd fmla="val 177309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Focus on </a:t>
            </a:r>
            <a:r>
              <a:rPr b="1" lang="en" sz="1200">
                <a:solidFill>
                  <a:srgbClr val="666666"/>
                </a:solidFill>
              </a:rPr>
              <a:t>SHOW STOPPER</a:t>
            </a:r>
            <a:r>
              <a:rPr lang="en" sz="1200">
                <a:solidFill>
                  <a:srgbClr val="666666"/>
                </a:solidFill>
              </a:rPr>
              <a:t>. We will upload data to production on </a:t>
            </a:r>
            <a:r>
              <a:rPr b="1" lang="en" sz="1200">
                <a:solidFill>
                  <a:srgbClr val="666666"/>
                </a:solidFill>
              </a:rPr>
              <a:t>Tuesday, 19. Nov.</a:t>
            </a:r>
            <a:endParaRPr b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900" y="23261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4725" y="8883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/>
          <p:nvPr/>
        </p:nvSpPr>
        <p:spPr>
          <a:xfrm>
            <a:off x="3451475" y="13901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3634225" y="18192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24"/>
          <p:cNvGrpSpPr/>
          <p:nvPr/>
        </p:nvGrpSpPr>
        <p:grpSpPr>
          <a:xfrm>
            <a:off x="7065825" y="1390088"/>
            <a:ext cx="904600" cy="1678113"/>
            <a:chOff x="6982600" y="177738"/>
            <a:chExt cx="904600" cy="1678113"/>
          </a:xfrm>
        </p:grpSpPr>
        <p:pic>
          <p:nvPicPr>
            <p:cNvPr id="188" name="Google Shape;188;p24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4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0" name="Google Shape;190;p24"/>
          <p:cNvSpPr/>
          <p:nvPr/>
        </p:nvSpPr>
        <p:spPr>
          <a:xfrm>
            <a:off x="4479025" y="13955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191" name="Google Shape;191;p24"/>
          <p:cNvSpPr txBox="1"/>
          <p:nvPr/>
        </p:nvSpPr>
        <p:spPr>
          <a:xfrm rot="1431975">
            <a:off x="5449006" y="16532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192" name="Google Shape;192;p24"/>
          <p:cNvGrpSpPr/>
          <p:nvPr/>
        </p:nvGrpSpPr>
        <p:grpSpPr>
          <a:xfrm>
            <a:off x="387074" y="863050"/>
            <a:ext cx="1514118" cy="1404725"/>
            <a:chOff x="7205063" y="2318745"/>
            <a:chExt cx="1218900" cy="1404725"/>
          </a:xfrm>
        </p:grpSpPr>
        <p:pic>
          <p:nvPicPr>
            <p:cNvPr id="193" name="Google Shape;193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4"/>
            <p:cNvSpPr txBox="1"/>
            <p:nvPr/>
          </p:nvSpPr>
          <p:spPr>
            <a:xfrm>
              <a:off x="7205063" y="3261770"/>
              <a:ext cx="121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Lithodat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5" name="Google Shape;195;p24"/>
          <p:cNvSpPr/>
          <p:nvPr/>
        </p:nvSpPr>
        <p:spPr>
          <a:xfrm>
            <a:off x="159125" y="2267775"/>
            <a:ext cx="1801500" cy="1373400"/>
          </a:xfrm>
          <a:prstGeom prst="wedgeRoundRectCallout">
            <a:avLst>
              <a:gd fmla="val -50352" name="adj1"/>
              <a:gd fmla="val 17557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Lithodat ending round 3 by creating and running new version of adapters.</a:t>
            </a:r>
            <a:endParaRPr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(till Monday 11th with version 0.4.4)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7129200" y="3068200"/>
            <a:ext cx="1801500" cy="1185000"/>
          </a:xfrm>
          <a:prstGeom prst="wedgeRoundRectCallout">
            <a:avLst>
              <a:gd fmla="val -49438" name="adj1"/>
              <a:gd fmla="val 17003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isotope.au experts starting round 4 by comparing source with export files (v0.4.4).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197" name="Google Shape;197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Step: Round 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of Approving the Adapters</a:t>
            </a: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204" name="Google Shape;204;p25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5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206" name="Google Shape;206;p25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207" name="Google Shape;207;p25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5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09" name="Google Shape;209;p25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0" name="Google Shape;210;p25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2630125" y="1943825"/>
            <a:ext cx="5847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How to check the mappings:</a:t>
            </a:r>
            <a:endParaRPr b="1" sz="18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Download the latest ontology.xls of your adapter.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Pick a random row from your proprietary.xls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Find the corresponding row in the ontology.xls.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Check the mappings.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Repeat with other row if unsure.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Update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5659125" y="433200"/>
            <a:ext cx="3227400" cy="1383300"/>
          </a:xfrm>
          <a:prstGeom prst="wedgeRoundRectCallout">
            <a:avLst>
              <a:gd fmla="val -23175" name="adj1"/>
              <a:gd fmla="val -50025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We are entering Round 4 on Monday coming week. Probably the last Round before going productive.</a:t>
            </a:r>
            <a:endParaRPr b="1" sz="15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filtering by type on the  UI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229" name="Google Shape;22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9"/>
          <p:cNvCxnSpPr>
            <a:stCxn id="239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" name="Google Shape;241;p29"/>
          <p:cNvCxnSpPr>
            <a:stCxn id="242" idx="0"/>
            <a:endCxn id="239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3" name="Google Shape;243;p29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29"/>
          <p:cNvCxnSpPr>
            <a:stCxn id="237" idx="0"/>
            <a:endCxn id="243" idx="3"/>
          </p:cNvCxnSpPr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45" name="Google Shape;245;p29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246" name="Google Shape;246;p29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9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48" name="Google Shape;248;p29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1607325" y="2781050"/>
            <a:ext cx="2496900" cy="695400"/>
          </a:xfrm>
          <a:prstGeom prst="wedgeRoundRectCallout">
            <a:avLst>
              <a:gd fmla="val 127552" name="adj1"/>
              <a:gd fmla="val 88686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30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258" name="Google Shape;258;p30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30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60" name="Google Shape;260;p30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30"/>
          <p:cNvCxnSpPr>
            <a:stCxn id="260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2" name="Google Shape;262;p30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263" name="Google Shape;263;p30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264" name="Google Shape;264;p30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30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66" name="Google Shape;266;p30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1338200" y="3797800"/>
            <a:ext cx="2496900" cy="695400"/>
          </a:xfrm>
          <a:prstGeom prst="wedgeRoundRectCallout">
            <a:avLst>
              <a:gd fmla="val 74855" name="adj1"/>
              <a:gd fmla="val -213410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400" y="1943825"/>
            <a:ext cx="1463276" cy="146327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grpSp>
        <p:nvGrpSpPr>
          <p:cNvPr id="274" name="Google Shape;274;p31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275" name="Google Shape;275;p31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31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277" name="Google Shape;277;p31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278" name="Google Shape;278;p31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31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80" name="Google Shape;280;p31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2923150" y="1876550"/>
            <a:ext cx="2496900" cy="695400"/>
          </a:xfrm>
          <a:prstGeom prst="wedgeRoundRectCallout">
            <a:avLst>
              <a:gd fmla="val -126351" name="adj1"/>
              <a:gd fmla="val 11450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But how can the data be </a:t>
            </a:r>
            <a:r>
              <a:rPr lang="en" sz="1200">
                <a:solidFill>
                  <a:srgbClr val="666666"/>
                </a:solidFill>
              </a:rPr>
              <a:t>checked</a:t>
            </a:r>
            <a:r>
              <a:rPr lang="en" sz="1200">
                <a:solidFill>
                  <a:srgbClr val="666666"/>
                </a:solidFill>
              </a:rPr>
              <a:t>?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282" name="Google Shape;282;p31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“Ready for Production”</a:t>
            </a:r>
            <a:endParaRPr/>
          </a:p>
        </p:txBody>
      </p:sp>
      <p:pic>
        <p:nvPicPr>
          <p:cNvPr id="288" name="Google Shape;2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2683798"/>
            <a:ext cx="7451349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2"/>
          <p:cNvSpPr txBox="1"/>
          <p:nvPr/>
        </p:nvSpPr>
        <p:spPr>
          <a:xfrm>
            <a:off x="370925" y="10584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required fields need to have been approved by an expert.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0" name="Google Shape;290;p32"/>
          <p:cNvSpPr txBox="1"/>
          <p:nvPr/>
        </p:nvSpPr>
        <p:spPr>
          <a:xfrm>
            <a:off x="7224100" y="3046933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1" name="Google Shape;291;p32"/>
          <p:cNvSpPr txBox="1"/>
          <p:nvPr/>
        </p:nvSpPr>
        <p:spPr>
          <a:xfrm>
            <a:off x="7224100" y="3214285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2" name="Google Shape;292;p32"/>
          <p:cNvSpPr/>
          <p:nvPr/>
        </p:nvSpPr>
        <p:spPr>
          <a:xfrm>
            <a:off x="7109700" y="3046925"/>
            <a:ext cx="889500" cy="5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2"/>
          <p:cNvSpPr txBox="1"/>
          <p:nvPr/>
        </p:nvSpPr>
        <p:spPr>
          <a:xfrm>
            <a:off x="6673200" y="3682800"/>
            <a:ext cx="132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5891125" y="4107475"/>
            <a:ext cx="2496900" cy="695400"/>
          </a:xfrm>
          <a:prstGeom prst="wedgeRoundRectCallout">
            <a:avLst>
              <a:gd fmla="val 14672" name="adj1"/>
              <a:gd fmla="val -13968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Leave a comment instead of your name in case the mapping is not as expected.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Cycle</a:t>
            </a:r>
            <a:endParaRPr/>
          </a:p>
        </p:txBody>
      </p:sp>
      <p:pic>
        <p:nvPicPr>
          <p:cNvPr id="300" name="Google Shape;3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33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303" name="Google Shape;303;p33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33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305" name="Google Shape;305;p33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" name="Google Shape;306;p33"/>
          <p:cNvCxnSpPr>
            <a:stCxn id="305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7" name="Google Shape;307;p33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308" name="Google Shape;308;p33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309" name="Google Shape;309;p33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3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311" name="Google Shape;311;p33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1255950" y="1823950"/>
            <a:ext cx="2496900" cy="695400"/>
          </a:xfrm>
          <a:prstGeom prst="wedgeRoundRectCallout">
            <a:avLst>
              <a:gd fmla="val 21561" name="adj1"/>
              <a:gd fmla="val 73663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313" name="Google Shape;313;p33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" name="Google Shape;314;p33"/>
          <p:cNvCxnSpPr>
            <a:stCxn id="313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5" name="Google Shape;315;p33"/>
          <p:cNvCxnSpPr>
            <a:endCxn id="313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6" name="Google Shape;316;p33"/>
          <p:cNvCxnSpPr/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7" name="Google Shape;317;p33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3"/>
          <p:cNvSpPr/>
          <p:nvPr/>
        </p:nvSpPr>
        <p:spPr>
          <a:xfrm>
            <a:off x="1528875" y="3610900"/>
            <a:ext cx="2496900" cy="695400"/>
          </a:xfrm>
          <a:prstGeom prst="wedgeRoundRectCallout">
            <a:avLst>
              <a:gd fmla="val 134885" name="adj1"/>
              <a:gd fmla="val -24195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filters</a:t>
            </a:r>
            <a:endParaRPr/>
          </a:p>
        </p:txBody>
      </p:sp>
      <p:pic>
        <p:nvPicPr>
          <p:cNvPr id="324" name="Google Shape;3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0975"/>
            <a:ext cx="8839198" cy="304007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/>
          <p:nvPr/>
        </p:nvSpPr>
        <p:spPr>
          <a:xfrm>
            <a:off x="98841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6" name="Google Shape;326;p34"/>
          <p:cNvSpPr/>
          <p:nvPr/>
        </p:nvSpPr>
        <p:spPr>
          <a:xfrm>
            <a:off x="283786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7" name="Google Shape;327;p34"/>
          <p:cNvSpPr/>
          <p:nvPr/>
        </p:nvSpPr>
        <p:spPr>
          <a:xfrm>
            <a:off x="3849985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8" name="Google Shape;328;p34"/>
          <p:cNvSpPr/>
          <p:nvPr/>
        </p:nvSpPr>
        <p:spPr>
          <a:xfrm>
            <a:off x="50116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9" name="Google Shape;329;p34"/>
          <p:cNvSpPr/>
          <p:nvPr/>
        </p:nvSpPr>
        <p:spPr>
          <a:xfrm>
            <a:off x="78404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30" name="Google Shape;330;p34"/>
          <p:cNvSpPr txBox="1"/>
          <p:nvPr/>
        </p:nvSpPr>
        <p:spPr>
          <a:xfrm>
            <a:off x="6449774" y="1628475"/>
            <a:ext cx="471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0000"/>
                </a:solidFill>
              </a:rPr>
              <a:t>!</a:t>
            </a:r>
            <a:endParaRPr sz="7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UI as specified by CSIRO (</a:t>
            </a:r>
            <a:r>
              <a:rPr lang="en" sz="2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2024-09-16</a:t>
            </a:r>
            <a:r>
              <a:rPr lang="en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336" name="Google Shape;33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75" y="659493"/>
            <a:ext cx="6244050" cy="427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5"/>
          <p:cNvSpPr txBox="1"/>
          <p:nvPr/>
        </p:nvSpPr>
        <p:spPr>
          <a:xfrm>
            <a:off x="5412625" y="4829400"/>
            <a:ext cx="1981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See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concept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Goal of Today’s Meeting:</a:t>
            </a:r>
            <a:endParaRPr/>
          </a:p>
        </p:txBody>
      </p:sp>
      <p:sp>
        <p:nvSpPr>
          <p:cNvPr id="343" name="Google Shape;343;p36"/>
          <p:cNvSpPr txBox="1"/>
          <p:nvPr>
            <p:ph idx="1" type="body"/>
          </p:nvPr>
        </p:nvSpPr>
        <p:spPr>
          <a:xfrm>
            <a:off x="311700" y="1713150"/>
            <a:ext cx="8520600" cy="22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Understanding the </a:t>
            </a:r>
            <a:r>
              <a:rPr b="1" lang="en" sz="2800"/>
              <a:t>Adapter</a:t>
            </a:r>
            <a:r>
              <a:rPr lang="en" sz="2800"/>
              <a:t> Development Process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The adapters need to implement a lot of expert knowledge. Next slides will show with a concrete example how the knowledge can be transferred from the experts to the developers.</a:t>
            </a:r>
            <a:endParaRPr sz="1700"/>
          </a:p>
        </p:txBody>
      </p:sp>
      <p:sp>
        <p:nvSpPr>
          <p:cNvPr id="344" name="Google Shape;344;p36"/>
          <p:cNvSpPr/>
          <p:nvPr/>
        </p:nvSpPr>
        <p:spPr>
          <a:xfrm>
            <a:off x="231750" y="1712000"/>
            <a:ext cx="76854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50" name="Google Shape;3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37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52" name="Google Shape;35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37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54" name="Google Shape;354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7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56" name="Google Shape;356;p37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8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38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64" name="Google Shape;36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8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66" name="Google Shape;36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9325" y="140225"/>
            <a:ext cx="2054227" cy="10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8"/>
          <p:cNvSpPr/>
          <p:nvPr/>
        </p:nvSpPr>
        <p:spPr>
          <a:xfrm>
            <a:off x="3180229" y="332292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68" name="Google Shape;368;p38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69" name="Google Shape;369;p38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75" name="Google Shape;37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6" name="Google Shape;376;p39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77" name="Google Shape;37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9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379" name="Google Shape;379;p39"/>
          <p:cNvSpPr txBox="1"/>
          <p:nvPr/>
        </p:nvSpPr>
        <p:spPr>
          <a:xfrm>
            <a:off x="7027450" y="2070850"/>
            <a:ext cx="10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0" name="Google Shape;380;p39"/>
          <p:cNvSpPr txBox="1"/>
          <p:nvPr/>
        </p:nvSpPr>
        <p:spPr>
          <a:xfrm>
            <a:off x="6511600" y="237565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Technicals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7838275" y="238330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Mappings</a:t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382" name="Google Shape;382;p39"/>
          <p:cNvCxnSpPr/>
          <p:nvPr/>
        </p:nvCxnSpPr>
        <p:spPr>
          <a:xfrm>
            <a:off x="7767575" y="2242800"/>
            <a:ext cx="0" cy="15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9"/>
          <p:cNvCxnSpPr>
            <a:endCxn id="380" idx="0"/>
          </p:cNvCxnSpPr>
          <p:nvPr/>
        </p:nvCxnSpPr>
        <p:spPr>
          <a:xfrm flipH="1">
            <a:off x="7117150" y="1367950"/>
            <a:ext cx="732600" cy="10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" name="Google Shape;384;p39"/>
          <p:cNvCxnSpPr>
            <a:stCxn id="378" idx="1"/>
            <a:endCxn id="381" idx="0"/>
          </p:cNvCxnSpPr>
          <p:nvPr/>
        </p:nvCxnSpPr>
        <p:spPr>
          <a:xfrm>
            <a:off x="8081574" y="1411125"/>
            <a:ext cx="362400" cy="9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5" name="Google Shape;385;p39"/>
          <p:cNvSpPr/>
          <p:nvPr/>
        </p:nvSpPr>
        <p:spPr>
          <a:xfrm>
            <a:off x="8100935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86" name="Google Shape;386;p39"/>
          <p:cNvSpPr/>
          <p:nvPr/>
        </p:nvSpPr>
        <p:spPr>
          <a:xfrm>
            <a:off x="6812260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92" name="Google Shape;3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40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394" name="Google Shape;394;p40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395" name="Google Shape;39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40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97" name="Google Shape;397;p40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98" name="Google Shape;398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40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40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401" name="Google Shape;401;p40"/>
          <p:cNvCxnSpPr>
            <a:stCxn id="396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2" name="Google Shape;402;p40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03" name="Google Shape;403;p40"/>
          <p:cNvSpPr/>
          <p:nvPr/>
        </p:nvSpPr>
        <p:spPr>
          <a:xfrm>
            <a:off x="5906025" y="2200750"/>
            <a:ext cx="1375500" cy="572700"/>
          </a:xfrm>
          <a:prstGeom prst="wedgeRoundRectCallout">
            <a:avLst>
              <a:gd fmla="val -109784" name="adj1"/>
              <a:gd fmla="val 53942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Coder releases version when finished.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404" name="Google Shape;404;p40"/>
          <p:cNvSpPr/>
          <p:nvPr/>
        </p:nvSpPr>
        <p:spPr>
          <a:xfrm>
            <a:off x="31293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405" name="Google Shape;405;p40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406" name="Google Shape;406;p40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1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14" name="Google Shape;414;p41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" name="Google Shape;415;p41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416" name="Google Shape;416;p41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41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18" name="Google Shape;418;p41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19" name="Google Shape;419;p4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41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7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421" name="Google Shape;421;p41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2" name="Google Shape;422;p41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424" name="Google Shape;424;p41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4100" y="3519575"/>
            <a:ext cx="396300" cy="3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2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33" name="Google Shape;433;p42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4" name="Google Shape;434;p42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435" name="Google Shape;435;p42"/>
            <p:cNvPicPr preferRelativeResize="0"/>
            <p:nvPr/>
          </p:nvPicPr>
          <p:blipFill rotWithShape="1">
            <a:blip r:embed="rId6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42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37" name="Google Shape;437;p42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38" name="Google Shape;438;p4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42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8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440" name="Google Shape;440;p42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1" name="Google Shape;441;p42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42" name="Google Shape;442;p42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443" name="Google Shape;443;p42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444" name="Google Shape;444;p42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445" name="Google Shape;445;p4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42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447" name="Google Shape;447;p42"/>
          <p:cNvCxnSpPr/>
          <p:nvPr/>
        </p:nvCxnSpPr>
        <p:spPr>
          <a:xfrm>
            <a:off x="7236775" y="2594175"/>
            <a:ext cx="897300" cy="957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8" name="Google Shape;448;p42"/>
          <p:cNvSpPr txBox="1"/>
          <p:nvPr/>
        </p:nvSpPr>
        <p:spPr>
          <a:xfrm rot="2700000">
            <a:off x="7256190" y="2735209"/>
            <a:ext cx="910471" cy="6465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reports issue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49" name="Google Shape;449;p42"/>
          <p:cNvSpPr txBox="1"/>
          <p:nvPr/>
        </p:nvSpPr>
        <p:spPr>
          <a:xfrm>
            <a:off x="8014250" y="3739775"/>
            <a:ext cx="91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Lian F.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50" name="Google Shape;450;p42"/>
          <p:cNvCxnSpPr/>
          <p:nvPr/>
        </p:nvCxnSpPr>
        <p:spPr>
          <a:xfrm>
            <a:off x="8305850" y="3984725"/>
            <a:ext cx="14700" cy="186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456" name="Google Shape;45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43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458" name="Google Shape;458;p43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459" name="Google Shape;45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43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61" name="Google Shape;461;p43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62" name="Google Shape;462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43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464" name="Google Shape;464;p43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465" name="Google Shape;465;p43"/>
          <p:cNvCxnSpPr>
            <a:stCxn id="460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6" name="Google Shape;466;p43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467" name="Google Shape;467;p43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468" name="Google Shape;468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43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470" name="Google Shape;470;p43"/>
          <p:cNvCxnSpPr/>
          <p:nvPr/>
        </p:nvCxnSpPr>
        <p:spPr>
          <a:xfrm>
            <a:off x="6384525" y="2108225"/>
            <a:ext cx="1644600" cy="2055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1" name="Google Shape;471;p43"/>
          <p:cNvSpPr txBox="1"/>
          <p:nvPr/>
        </p:nvSpPr>
        <p:spPr>
          <a:xfrm rot="3014526">
            <a:off x="6814430" y="2695812"/>
            <a:ext cx="784777" cy="4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477" name="Google Shape;477;p44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478" name="Google Shape;478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479;p44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480" name="Google Shape;48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4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82" name="Google Shape;482;p44"/>
          <p:cNvSpPr txBox="1"/>
          <p:nvPr/>
        </p:nvSpPr>
        <p:spPr>
          <a:xfrm>
            <a:off x="2068875" y="8339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the expert needs: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3" name="Google Shape;48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5" name="Google Shape;485;p44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486" name="Google Shape;486;p44"/>
            <p:cNvPicPr preferRelativeResize="0"/>
            <p:nvPr/>
          </p:nvPicPr>
          <p:blipFill rotWithShape="1">
            <a:blip r:embed="rId7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4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488" name="Google Shape;488;p44"/>
          <p:cNvCxnSpPr/>
          <p:nvPr/>
        </p:nvCxnSpPr>
        <p:spPr>
          <a:xfrm flipH="1" rot="10800000">
            <a:off x="1394100" y="2304425"/>
            <a:ext cx="1642500" cy="700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44"/>
          <p:cNvCxnSpPr/>
          <p:nvPr/>
        </p:nvCxnSpPr>
        <p:spPr>
          <a:xfrm flipH="1" rot="10800000">
            <a:off x="3615725" y="2821775"/>
            <a:ext cx="95700" cy="545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44"/>
          <p:cNvCxnSpPr/>
          <p:nvPr/>
        </p:nvCxnSpPr>
        <p:spPr>
          <a:xfrm rot="10800000">
            <a:off x="4513300" y="2648100"/>
            <a:ext cx="1374900" cy="693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496" name="Google Shape;496;p45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497" name="Google Shape;497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45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499" name="Google Shape;49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5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01" name="Google Shape;501;p45"/>
          <p:cNvSpPr txBox="1"/>
          <p:nvPr/>
        </p:nvSpPr>
        <p:spPr>
          <a:xfrm>
            <a:off x="2145075" y="6815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to update the spec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02" name="Google Shape;50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4" name="Google Shape;504;p45"/>
          <p:cNvGrpSpPr/>
          <p:nvPr/>
        </p:nvGrpSpPr>
        <p:grpSpPr>
          <a:xfrm>
            <a:off x="6409334" y="766838"/>
            <a:ext cx="1337781" cy="1083336"/>
            <a:chOff x="5658150" y="1181725"/>
            <a:chExt cx="919500" cy="673800"/>
          </a:xfrm>
        </p:grpSpPr>
        <p:pic>
          <p:nvPicPr>
            <p:cNvPr id="505" name="Google Shape;505;p4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19750" y="1181725"/>
              <a:ext cx="396300" cy="39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45"/>
            <p:cNvSpPr txBox="1"/>
            <p:nvPr/>
          </p:nvSpPr>
          <p:spPr>
            <a:xfrm>
              <a:off x="5658150" y="1578025"/>
              <a:ext cx="919500" cy="2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2"/>
                  </a:solidFill>
                </a:rPr>
                <a:t>Lian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grpSp>
        <p:nvGrpSpPr>
          <p:cNvPr id="507" name="Google Shape;507;p45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508" name="Google Shape;508;p45"/>
            <p:cNvPicPr preferRelativeResize="0"/>
            <p:nvPr/>
          </p:nvPicPr>
          <p:blipFill rotWithShape="1">
            <a:blip r:embed="rId8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45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510" name="Google Shape;510;p45"/>
          <p:cNvCxnSpPr/>
          <p:nvPr/>
        </p:nvCxnSpPr>
        <p:spPr>
          <a:xfrm>
            <a:off x="4419459" y="2571751"/>
            <a:ext cx="1500300" cy="810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45"/>
          <p:cNvCxnSpPr/>
          <p:nvPr/>
        </p:nvCxnSpPr>
        <p:spPr>
          <a:xfrm flipH="1" rot="10800000">
            <a:off x="4513300" y="1546800"/>
            <a:ext cx="1979700" cy="458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45"/>
          <p:cNvCxnSpPr/>
          <p:nvPr/>
        </p:nvCxnSpPr>
        <p:spPr>
          <a:xfrm flipH="1">
            <a:off x="6493025" y="2056125"/>
            <a:ext cx="203700" cy="98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45"/>
          <p:cNvSpPr txBox="1"/>
          <p:nvPr/>
        </p:nvSpPr>
        <p:spPr>
          <a:xfrm rot="1703636">
            <a:off x="4571941" y="2565206"/>
            <a:ext cx="1349439" cy="461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comments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14" name="Google Shape;514;p45"/>
          <p:cNvSpPr txBox="1"/>
          <p:nvPr/>
        </p:nvSpPr>
        <p:spPr>
          <a:xfrm rot="-715917">
            <a:off x="4727663" y="1438681"/>
            <a:ext cx="1349457" cy="461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feedback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15" name="Google Shape;515;p45"/>
          <p:cNvSpPr txBox="1"/>
          <p:nvPr/>
        </p:nvSpPr>
        <p:spPr>
          <a:xfrm rot="-4674635">
            <a:off x="5796029" y="2128882"/>
            <a:ext cx="1349325" cy="4617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edits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Formular</a:t>
            </a:r>
            <a:endParaRPr/>
          </a:p>
        </p:txBody>
      </p:sp>
      <p:pic>
        <p:nvPicPr>
          <p:cNvPr id="521" name="Google Shape;52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321" y="1587074"/>
            <a:ext cx="2791725" cy="31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All Feedback and Issues can be managed in Jira</a:t>
            </a:r>
            <a:endParaRPr/>
          </a:p>
        </p:txBody>
      </p:sp>
      <p:pic>
        <p:nvPicPr>
          <p:cNvPr id="527" name="Google Shape;5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850" y="931725"/>
            <a:ext cx="4681116" cy="4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Mails with instructions</a:t>
            </a:r>
            <a:endParaRPr/>
          </a:p>
        </p:txBody>
      </p:sp>
      <p:sp>
        <p:nvSpPr>
          <p:cNvPr id="533" name="Google Shape;533;p48"/>
          <p:cNvSpPr txBox="1"/>
          <p:nvPr/>
        </p:nvSpPr>
        <p:spPr>
          <a:xfrm>
            <a:off x="311700" y="1022925"/>
            <a:ext cx="282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 are the </a:t>
            </a:r>
            <a:r>
              <a:rPr lang="en" sz="1800">
                <a:solidFill>
                  <a:schemeClr val="dk2"/>
                </a:solidFill>
              </a:rPr>
              <a:t>recipients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34" name="Google Shape;5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97650"/>
            <a:ext cx="3603575" cy="20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8"/>
          <p:cNvSpPr/>
          <p:nvPr/>
        </p:nvSpPr>
        <p:spPr>
          <a:xfrm>
            <a:off x="181600" y="186500"/>
            <a:ext cx="5114100" cy="418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