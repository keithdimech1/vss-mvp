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e1aed0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e1aed0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54ee4712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54ee4712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054ee471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054ee471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54ee471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54ee471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4ee4712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054ee4712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71df19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71df19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54ee4712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54ee4712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54ee4712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54ee4712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54ee4712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54ee4712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9a89e80f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e9a89e80f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54ee4712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054ee4712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054ee4712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054ee4712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054ee4712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054ee4712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054ee471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054ee471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054ee4712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054ee4712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e1aed07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fe1aed07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e1aed078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e1aed07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e1aed078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fe1aed078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fe1aed078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fe1aed078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fe1aed078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fe1aed078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fe1aed078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fe1aed078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e1aed078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e1aed078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fe1aed078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fe1aed078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fe1aed078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fe1aed078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fe1aed078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fe1aed078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52591b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f52591b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52591b32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f52591b32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e9a89e80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e9a89e80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ithodat.atlassian.net/browse/CA-32" TargetMode="External"/><Relationship Id="rId4" Type="http://schemas.openxmlformats.org/officeDocument/2006/relationships/image" Target="../media/image12.png"/><Relationship Id="rId5" Type="http://schemas.openxmlformats.org/officeDocument/2006/relationships/hyperlink" Target="https://docs.google.com/presentation/d/1jI2pCFa_sS55FlHLN9mCgdgwrH-vFye-i6TcxHham6A/edit#slide=id.g3009b42d67f_0_20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hyperlink" Target="https://docs.google.com/spreadsheets/d/1BHN1w1_zBh2qr__xCxBEBaxhxoPrHszlSbtSp-cH7wU/edit?gid=438698195#gid=438698195" TargetMode="External"/><Relationship Id="rId7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Relationship Id="rId8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Isotopes.au Team Meeting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CSIRO &amp; ANSTO</a:t>
            </a:r>
            <a:r>
              <a:rPr lang="en"/>
              <a:t> &amp; </a:t>
            </a:r>
            <a:r>
              <a:rPr lang="en"/>
              <a:t>GA</a:t>
            </a:r>
            <a:r>
              <a:rPr lang="en"/>
              <a:t> &amp; </a:t>
            </a:r>
            <a:r>
              <a:rPr lang="en"/>
              <a:t>Lithodat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Model &amp; Adapters is Basis for UI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280" y="712925"/>
            <a:ext cx="3791501" cy="186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7325" y="3165252"/>
            <a:ext cx="3876275" cy="193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>
            <a:stCxn id="61" idx="2"/>
            <a:endCxn id="62" idx="0"/>
          </p:cNvCxnSpPr>
          <p:nvPr/>
        </p:nvCxnSpPr>
        <p:spPr>
          <a:xfrm flipH="1">
            <a:off x="6185430" y="2579050"/>
            <a:ext cx="3600" cy="5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4" name="Google Shape;64;p14"/>
          <p:cNvCxnSpPr/>
          <p:nvPr/>
        </p:nvCxnSpPr>
        <p:spPr>
          <a:xfrm>
            <a:off x="348500" y="2912500"/>
            <a:ext cx="8320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236350" y="2474326"/>
            <a:ext cx="430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&amp; Adapters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4700" y="3872575"/>
            <a:ext cx="2496900" cy="695400"/>
          </a:xfrm>
          <a:prstGeom prst="wedgeRoundRectCallout">
            <a:avLst>
              <a:gd fmla="val -35329" name="adj1"/>
              <a:gd fmla="val -139229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This presentation focuses on the </a:t>
            </a:r>
            <a:r>
              <a:rPr b="1" lang="en" sz="1200">
                <a:solidFill>
                  <a:srgbClr val="666666"/>
                </a:solidFill>
              </a:rPr>
              <a:t>Model &amp; Adapter</a:t>
            </a:r>
            <a:r>
              <a:rPr lang="en" sz="1200">
                <a:solidFill>
                  <a:srgbClr val="666666"/>
                </a:solidFill>
              </a:rPr>
              <a:t> development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175" y="152400"/>
            <a:ext cx="7302274" cy="4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44875" y="41150"/>
            <a:ext cx="15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 of Adapters 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930097" y="15937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4" name="Google Shape;74;p15"/>
          <p:cNvSpPr/>
          <p:nvPr/>
        </p:nvSpPr>
        <p:spPr>
          <a:xfrm>
            <a:off x="8297997" y="39645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5" name="Google Shape;75;p15"/>
          <p:cNvSpPr/>
          <p:nvPr/>
        </p:nvSpPr>
        <p:spPr>
          <a:xfrm>
            <a:off x="3542322" y="15184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6" name="Google Shape;76;p15"/>
          <p:cNvSpPr/>
          <p:nvPr/>
        </p:nvSpPr>
        <p:spPr>
          <a:xfrm>
            <a:off x="338010" y="15003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7" name="Google Shape;77;p15"/>
          <p:cNvSpPr/>
          <p:nvPr/>
        </p:nvSpPr>
        <p:spPr>
          <a:xfrm>
            <a:off x="338010" y="32661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78" name="Google Shape;78;p15"/>
          <p:cNvSpPr txBox="1"/>
          <p:nvPr/>
        </p:nvSpPr>
        <p:spPr>
          <a:xfrm>
            <a:off x="93938" y="2094725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Technically Working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93938" y="3964500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Ready for Production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374172" y="39645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81" name="Google Shape;81;p15"/>
          <p:cNvSpPr/>
          <p:nvPr/>
        </p:nvSpPr>
        <p:spPr>
          <a:xfrm>
            <a:off x="3229651" y="3718528"/>
            <a:ext cx="919500" cy="919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3931800" y="4757225"/>
            <a:ext cx="1280400" cy="303900"/>
          </a:xfrm>
          <a:prstGeom prst="wedgeRoundRectCallout">
            <a:avLst>
              <a:gd fmla="val -35942" name="adj1"/>
              <a:gd fmla="val -156598" name="adj2"/>
              <a:gd fmla="val 0" name="adj3"/>
            </a:avLst>
          </a:prstGeom>
          <a:solidFill>
            <a:srgbClr val="FFF8E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This one is new since last time.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7463350" y="1615975"/>
            <a:ext cx="1280400" cy="303900"/>
          </a:xfrm>
          <a:prstGeom prst="wedgeRoundRectCallout">
            <a:avLst>
              <a:gd fmla="val -23905" name="adj1"/>
              <a:gd fmla="val -50378" name="adj2"/>
              <a:gd fmla="val 0" name="adj3"/>
            </a:avLst>
          </a:prstGeom>
          <a:solidFill>
            <a:srgbClr val="FFF8E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This one is next.</a:t>
            </a:r>
            <a:endParaRPr sz="9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“Ready for Production”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2683798"/>
            <a:ext cx="7451349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70925" y="10584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All required fields need to have been approved by an expert.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673200" y="3682800"/>
            <a:ext cx="132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109700" y="3046925"/>
            <a:ext cx="889500" cy="51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891125" y="4107475"/>
            <a:ext cx="2496900" cy="695400"/>
          </a:xfrm>
          <a:prstGeom prst="wedgeRoundRectCallout">
            <a:avLst>
              <a:gd fmla="val 16169" name="adj1"/>
              <a:gd fmla="val -128933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Not approved yet.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6033150" y="3700625"/>
            <a:ext cx="306600" cy="292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18"/>
          <p:cNvCxnSpPr>
            <a:stCxn id="110" idx="7"/>
          </p:cNvCxnSpPr>
          <p:nvPr/>
        </p:nvCxnSpPr>
        <p:spPr>
          <a:xfrm flipH="1" rot="10800000">
            <a:off x="6294849" y="3476461"/>
            <a:ext cx="221400" cy="26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" name="Google Shape;112;p18"/>
          <p:cNvCxnSpPr>
            <a:stCxn id="113" idx="0"/>
            <a:endCxn id="110" idx="3"/>
          </p:cNvCxnSpPr>
          <p:nvPr/>
        </p:nvCxnSpPr>
        <p:spPr>
          <a:xfrm flipH="1" rot="10800000">
            <a:off x="5923251" y="3950289"/>
            <a:ext cx="1548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4" name="Google Shape;114;p18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18"/>
          <p:cNvCxnSpPr>
            <a:stCxn id="108" idx="0"/>
            <a:endCxn id="114" idx="3"/>
          </p:cNvCxnSpPr>
          <p:nvPr/>
        </p:nvCxnSpPr>
        <p:spPr>
          <a:xfrm rot="10800000">
            <a:off x="5876288" y="2442302"/>
            <a:ext cx="929700" cy="6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116" name="Google Shape;116;p18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117" name="Google Shape;117;p18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8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119" name="Google Shape;119;p18"/>
          <p:cNvSpPr/>
          <p:nvPr/>
        </p:nvSpPr>
        <p:spPr>
          <a:xfrm>
            <a:off x="5502350" y="4194200"/>
            <a:ext cx="842100" cy="7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1607325" y="2781050"/>
            <a:ext cx="2496900" cy="695400"/>
          </a:xfrm>
          <a:prstGeom prst="wedgeRoundRectCallout">
            <a:avLst>
              <a:gd fmla="val 127552" name="adj1"/>
              <a:gd fmla="val 88686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proprietary input data gets translated (aka. mapped).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19"/>
          <p:cNvGrpSpPr/>
          <p:nvPr/>
        </p:nvGrpSpPr>
        <p:grpSpPr>
          <a:xfrm>
            <a:off x="2316074" y="2676425"/>
            <a:ext cx="922500" cy="845725"/>
            <a:chOff x="2316074" y="2676425"/>
            <a:chExt cx="922500" cy="845725"/>
          </a:xfrm>
        </p:grpSpPr>
        <p:pic>
          <p:nvPicPr>
            <p:cNvPr id="129" name="Google Shape;129;p19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9"/>
            <p:cNvSpPr txBox="1"/>
            <p:nvPr/>
          </p:nvSpPr>
          <p:spPr>
            <a:xfrm>
              <a:off x="2316074" y="3229650"/>
              <a:ext cx="922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131" name="Google Shape;131;p19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19"/>
          <p:cNvCxnSpPr>
            <a:stCxn id="131" idx="1"/>
          </p:cNvCxnSpPr>
          <p:nvPr/>
        </p:nvCxnSpPr>
        <p:spPr>
          <a:xfrm flipH="1">
            <a:off x="3214850" y="2442400"/>
            <a:ext cx="2077800" cy="3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" name="Google Shape;133;p19"/>
          <p:cNvSpPr/>
          <p:nvPr/>
        </p:nvSpPr>
        <p:spPr>
          <a:xfrm>
            <a:off x="4796900" y="2898488"/>
            <a:ext cx="785100" cy="267000"/>
          </a:xfrm>
          <a:prstGeom prst="wedgeRectCallout">
            <a:avLst>
              <a:gd fmla="val 31958" name="adj1"/>
              <a:gd fmla="val -161994" name="adj2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CLICK on DOWNLOAD</a:t>
            </a:r>
            <a:endParaRPr sz="700">
              <a:solidFill>
                <a:srgbClr val="666666"/>
              </a:solidFill>
            </a:endParaRPr>
          </a:p>
        </p:txBody>
      </p:sp>
      <p:grpSp>
        <p:nvGrpSpPr>
          <p:cNvPr id="134" name="Google Shape;134;p19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135" name="Google Shape;135;p19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19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137" name="Google Shape;137;p19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1338200" y="3797800"/>
            <a:ext cx="2496900" cy="695400"/>
          </a:xfrm>
          <a:prstGeom prst="wedgeRoundRectCallout">
            <a:avLst>
              <a:gd fmla="val 74855" name="adj1"/>
              <a:gd fmla="val -213410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data get’s exported in the format of the common ontology.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400" y="1943825"/>
            <a:ext cx="1463276" cy="146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grpSp>
        <p:nvGrpSpPr>
          <p:cNvPr id="145" name="Google Shape;145;p20"/>
          <p:cNvGrpSpPr/>
          <p:nvPr/>
        </p:nvGrpSpPr>
        <p:grpSpPr>
          <a:xfrm>
            <a:off x="366272" y="1943818"/>
            <a:ext cx="971854" cy="865103"/>
            <a:chOff x="2316074" y="2676425"/>
            <a:chExt cx="922500" cy="835525"/>
          </a:xfrm>
        </p:grpSpPr>
        <p:pic>
          <p:nvPicPr>
            <p:cNvPr id="146" name="Google Shape;146;p20"/>
            <p:cNvPicPr preferRelativeResize="0"/>
            <p:nvPr/>
          </p:nvPicPr>
          <p:blipFill rotWithShape="1">
            <a:blip r:embed="rId4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20"/>
            <p:cNvSpPr txBox="1"/>
            <p:nvPr/>
          </p:nvSpPr>
          <p:spPr>
            <a:xfrm>
              <a:off x="2316074" y="3229650"/>
              <a:ext cx="9225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148" name="Google Shape;148;p20"/>
          <p:cNvGrpSpPr/>
          <p:nvPr/>
        </p:nvGrpSpPr>
        <p:grpSpPr>
          <a:xfrm>
            <a:off x="311697" y="3350126"/>
            <a:ext cx="1211100" cy="844874"/>
            <a:chOff x="5317847" y="4187426"/>
            <a:chExt cx="1211100" cy="844874"/>
          </a:xfrm>
        </p:grpSpPr>
        <p:pic>
          <p:nvPicPr>
            <p:cNvPr id="149" name="Google Shape;149;p20"/>
            <p:cNvPicPr preferRelativeResize="0"/>
            <p:nvPr/>
          </p:nvPicPr>
          <p:blipFill rotWithShape="1">
            <a:blip r:embed="rId4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0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151" name="Google Shape;151;p20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2923150" y="1876550"/>
            <a:ext cx="2496900" cy="695400"/>
          </a:xfrm>
          <a:prstGeom prst="wedgeRoundRectCallout">
            <a:avLst>
              <a:gd fmla="val -126351" name="adj1"/>
              <a:gd fmla="val 114502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But how can the data be </a:t>
            </a:r>
            <a:r>
              <a:rPr lang="en" sz="1200">
                <a:solidFill>
                  <a:srgbClr val="666666"/>
                </a:solidFill>
              </a:rPr>
              <a:t>checked</a:t>
            </a:r>
            <a:r>
              <a:rPr lang="en" sz="1200">
                <a:solidFill>
                  <a:srgbClr val="666666"/>
                </a:solidFill>
              </a:rPr>
              <a:t>?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153" name="Google Shape;153;p20"/>
          <p:cNvSpPr/>
          <p:nvPr/>
        </p:nvSpPr>
        <p:spPr>
          <a:xfrm rot="5400000">
            <a:off x="644550" y="2848175"/>
            <a:ext cx="545400" cy="367200"/>
          </a:xfrm>
          <a:prstGeom prst="leftRightArrow">
            <a:avLst>
              <a:gd fmla="val 46038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grpSp>
        <p:nvGrpSpPr>
          <p:cNvPr id="159" name="Google Shape;159;p21"/>
          <p:cNvGrpSpPr/>
          <p:nvPr/>
        </p:nvGrpSpPr>
        <p:grpSpPr>
          <a:xfrm>
            <a:off x="366272" y="1943818"/>
            <a:ext cx="971854" cy="865103"/>
            <a:chOff x="2316074" y="2676425"/>
            <a:chExt cx="922500" cy="835525"/>
          </a:xfrm>
        </p:grpSpPr>
        <p:pic>
          <p:nvPicPr>
            <p:cNvPr id="160" name="Google Shape;160;p21"/>
            <p:cNvPicPr preferRelativeResize="0"/>
            <p:nvPr/>
          </p:nvPicPr>
          <p:blipFill rotWithShape="1">
            <a:blip r:embed="rId3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21"/>
            <p:cNvSpPr txBox="1"/>
            <p:nvPr/>
          </p:nvSpPr>
          <p:spPr>
            <a:xfrm>
              <a:off x="2316074" y="3229650"/>
              <a:ext cx="9225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162" name="Google Shape;162;p21"/>
          <p:cNvGrpSpPr/>
          <p:nvPr/>
        </p:nvGrpSpPr>
        <p:grpSpPr>
          <a:xfrm>
            <a:off x="311697" y="3350126"/>
            <a:ext cx="1211100" cy="844874"/>
            <a:chOff x="5317847" y="4187426"/>
            <a:chExt cx="1211100" cy="844874"/>
          </a:xfrm>
        </p:grpSpPr>
        <p:pic>
          <p:nvPicPr>
            <p:cNvPr id="163" name="Google Shape;163;p21"/>
            <p:cNvPicPr preferRelativeResize="0"/>
            <p:nvPr/>
          </p:nvPicPr>
          <p:blipFill rotWithShape="1">
            <a:blip r:embed="rId3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21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165" name="Google Shape;165;p21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1"/>
          <p:cNvSpPr/>
          <p:nvPr/>
        </p:nvSpPr>
        <p:spPr>
          <a:xfrm rot="5400000">
            <a:off x="644550" y="2848175"/>
            <a:ext cx="545400" cy="367200"/>
          </a:xfrm>
          <a:prstGeom prst="leftRightArrow">
            <a:avLst>
              <a:gd fmla="val 46038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2630125" y="1943825"/>
            <a:ext cx="5847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How to check the mappings:</a:t>
            </a:r>
            <a:endParaRPr b="1" sz="18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Download the latest ontology.xls of your adapter.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Pick a random row from your proprietary.xls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Find the corresponding row in the ontology.xls.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Check the mappings.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Repeat with other row if unsure.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Update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“Ready for Production”</a:t>
            </a:r>
            <a:endParaRPr/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2683798"/>
            <a:ext cx="7451349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370925" y="10584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All required fields need to have been approved by an expert.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7224100" y="3046933"/>
            <a:ext cx="6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by Cath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7224100" y="3214285"/>
            <a:ext cx="6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by Cath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7109700" y="3046925"/>
            <a:ext cx="889500" cy="51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6673200" y="3682800"/>
            <a:ext cx="132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5891125" y="4107475"/>
            <a:ext cx="2496900" cy="695400"/>
          </a:xfrm>
          <a:prstGeom prst="wedgeRoundRectCallout">
            <a:avLst>
              <a:gd fmla="val 14672" name="adj1"/>
              <a:gd fmla="val -139682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Leave a comment instead of your name in case the mapping is not as expected.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filtering by type on the  UI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Cycle</a:t>
            </a:r>
            <a:endParaRPr/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24"/>
          <p:cNvGrpSpPr/>
          <p:nvPr/>
        </p:nvGrpSpPr>
        <p:grpSpPr>
          <a:xfrm>
            <a:off x="2316074" y="2676425"/>
            <a:ext cx="922500" cy="845725"/>
            <a:chOff x="2316074" y="2676425"/>
            <a:chExt cx="922500" cy="845725"/>
          </a:xfrm>
        </p:grpSpPr>
        <p:pic>
          <p:nvPicPr>
            <p:cNvPr id="193" name="Google Shape;193;p24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4"/>
            <p:cNvSpPr txBox="1"/>
            <p:nvPr/>
          </p:nvSpPr>
          <p:spPr>
            <a:xfrm>
              <a:off x="2316074" y="3229650"/>
              <a:ext cx="922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195" name="Google Shape;195;p24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24"/>
          <p:cNvCxnSpPr>
            <a:stCxn id="195" idx="1"/>
          </p:cNvCxnSpPr>
          <p:nvPr/>
        </p:nvCxnSpPr>
        <p:spPr>
          <a:xfrm flipH="1">
            <a:off x="3214850" y="2442400"/>
            <a:ext cx="2077800" cy="3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7" name="Google Shape;197;p24"/>
          <p:cNvSpPr/>
          <p:nvPr/>
        </p:nvSpPr>
        <p:spPr>
          <a:xfrm>
            <a:off x="4796900" y="2898488"/>
            <a:ext cx="785100" cy="267000"/>
          </a:xfrm>
          <a:prstGeom prst="wedgeRectCallout">
            <a:avLst>
              <a:gd fmla="val 31958" name="adj1"/>
              <a:gd fmla="val -161994" name="adj2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CLICK on DOWNLOAD</a:t>
            </a:r>
            <a:endParaRPr sz="700">
              <a:solidFill>
                <a:srgbClr val="666666"/>
              </a:solidFill>
            </a:endParaRPr>
          </a:p>
        </p:txBody>
      </p:sp>
      <p:grpSp>
        <p:nvGrpSpPr>
          <p:cNvPr id="198" name="Google Shape;198;p24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199" name="Google Shape;199;p24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4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01" name="Google Shape;201;p24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1255950" y="1823950"/>
            <a:ext cx="2496900" cy="695400"/>
          </a:xfrm>
          <a:prstGeom prst="wedgeRoundRectCallout">
            <a:avLst>
              <a:gd fmla="val 21561" name="adj1"/>
              <a:gd fmla="val 73663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data get’s exported in the format of the common ontology.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6033150" y="3700625"/>
            <a:ext cx="306600" cy="292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24"/>
          <p:cNvCxnSpPr>
            <a:stCxn id="203" idx="7"/>
          </p:cNvCxnSpPr>
          <p:nvPr/>
        </p:nvCxnSpPr>
        <p:spPr>
          <a:xfrm flipH="1" rot="10800000">
            <a:off x="6294849" y="3476461"/>
            <a:ext cx="221400" cy="26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" name="Google Shape;205;p24"/>
          <p:cNvCxnSpPr>
            <a:endCxn id="203" idx="3"/>
          </p:cNvCxnSpPr>
          <p:nvPr/>
        </p:nvCxnSpPr>
        <p:spPr>
          <a:xfrm flipH="1" rot="10800000">
            <a:off x="5923251" y="3950289"/>
            <a:ext cx="1548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" name="Google Shape;206;p24"/>
          <p:cNvCxnSpPr/>
          <p:nvPr/>
        </p:nvCxnSpPr>
        <p:spPr>
          <a:xfrm rot="10800000">
            <a:off x="5876288" y="2442302"/>
            <a:ext cx="929700" cy="6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7" name="Google Shape;207;p24"/>
          <p:cNvSpPr/>
          <p:nvPr/>
        </p:nvSpPr>
        <p:spPr>
          <a:xfrm>
            <a:off x="5502350" y="4194200"/>
            <a:ext cx="842100" cy="7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/>
          <p:nvPr/>
        </p:nvSpPr>
        <p:spPr>
          <a:xfrm>
            <a:off x="1528875" y="3610900"/>
            <a:ext cx="2496900" cy="695400"/>
          </a:xfrm>
          <a:prstGeom prst="wedgeRoundRectCallout">
            <a:avLst>
              <a:gd fmla="val 134885" name="adj1"/>
              <a:gd fmla="val -24195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proprietary input data gets translated (aka. mapped).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filters</a:t>
            </a:r>
            <a:endParaRPr/>
          </a:p>
        </p:txBody>
      </p:sp>
      <p:pic>
        <p:nvPicPr>
          <p:cNvPr id="214" name="Google Shape;2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00975"/>
            <a:ext cx="8839198" cy="304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/>
          <p:nvPr/>
        </p:nvSpPr>
        <p:spPr>
          <a:xfrm>
            <a:off x="988410" y="198802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216" name="Google Shape;216;p25"/>
          <p:cNvSpPr/>
          <p:nvPr/>
        </p:nvSpPr>
        <p:spPr>
          <a:xfrm>
            <a:off x="2837860" y="198802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217" name="Google Shape;217;p25"/>
          <p:cNvSpPr/>
          <p:nvPr/>
        </p:nvSpPr>
        <p:spPr>
          <a:xfrm>
            <a:off x="3849985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218" name="Google Shape;218;p25"/>
          <p:cNvSpPr/>
          <p:nvPr/>
        </p:nvSpPr>
        <p:spPr>
          <a:xfrm>
            <a:off x="5011660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219" name="Google Shape;219;p25"/>
          <p:cNvSpPr/>
          <p:nvPr/>
        </p:nvSpPr>
        <p:spPr>
          <a:xfrm>
            <a:off x="7840460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220" name="Google Shape;220;p25"/>
          <p:cNvSpPr txBox="1"/>
          <p:nvPr/>
        </p:nvSpPr>
        <p:spPr>
          <a:xfrm>
            <a:off x="6449774" y="1628475"/>
            <a:ext cx="471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0000"/>
                </a:solidFill>
              </a:rPr>
              <a:t>!</a:t>
            </a:r>
            <a:endParaRPr sz="7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UI as specified by CSIRO (</a:t>
            </a:r>
            <a:r>
              <a:rPr lang="en" sz="28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2024-09-16</a:t>
            </a:r>
            <a:r>
              <a:rPr lang="en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226" name="Google Shape;22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75" y="659493"/>
            <a:ext cx="6244050" cy="4278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/>
        </p:nvSpPr>
        <p:spPr>
          <a:xfrm>
            <a:off x="5412625" y="4829400"/>
            <a:ext cx="1981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See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concept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Goal of Today’s Meeting:</a:t>
            </a:r>
            <a:endParaRPr/>
          </a:p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311700" y="1713150"/>
            <a:ext cx="8520600" cy="22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Understanding the </a:t>
            </a:r>
            <a:r>
              <a:rPr b="1" lang="en" sz="2800"/>
              <a:t>Adapter</a:t>
            </a:r>
            <a:r>
              <a:rPr lang="en" sz="2800"/>
              <a:t> Development Process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The adapters need to implement a lot of expert knowledge. Next slides will show with a concrete example how the knowledge can be transferred from the experts to the developers.</a:t>
            </a:r>
            <a:endParaRPr sz="1700"/>
          </a:p>
        </p:txBody>
      </p:sp>
      <p:sp>
        <p:nvSpPr>
          <p:cNvPr id="239" name="Google Shape;239;p28"/>
          <p:cNvSpPr/>
          <p:nvPr/>
        </p:nvSpPr>
        <p:spPr>
          <a:xfrm>
            <a:off x="231750" y="1712000"/>
            <a:ext cx="76854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9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247" name="Google Shape;247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9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249" name="Google Shape;24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0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30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259" name="Google Shape;25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0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261" name="Google Shape;26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9325" y="140225"/>
            <a:ext cx="2054227" cy="10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0"/>
          <p:cNvSpPr/>
          <p:nvPr/>
        </p:nvSpPr>
        <p:spPr>
          <a:xfrm>
            <a:off x="3180229" y="332292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263" name="Google Shape;263;p30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264" name="Google Shape;264;p30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270" name="Google Shape;2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31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272" name="Google Shape;272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31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274" name="Google Shape;274;p31"/>
          <p:cNvSpPr txBox="1"/>
          <p:nvPr/>
        </p:nvSpPr>
        <p:spPr>
          <a:xfrm>
            <a:off x="7027450" y="2070850"/>
            <a:ext cx="107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6511600" y="237565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Technicals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7838275" y="238330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Mappings</a:t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277" name="Google Shape;277;p31"/>
          <p:cNvCxnSpPr/>
          <p:nvPr/>
        </p:nvCxnSpPr>
        <p:spPr>
          <a:xfrm>
            <a:off x="7767575" y="2242800"/>
            <a:ext cx="0" cy="15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1"/>
          <p:cNvCxnSpPr>
            <a:endCxn id="275" idx="0"/>
          </p:cNvCxnSpPr>
          <p:nvPr/>
        </p:nvCxnSpPr>
        <p:spPr>
          <a:xfrm flipH="1">
            <a:off x="7117150" y="1367950"/>
            <a:ext cx="732600" cy="10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" name="Google Shape;279;p31"/>
          <p:cNvCxnSpPr>
            <a:stCxn id="273" idx="1"/>
            <a:endCxn id="276" idx="0"/>
          </p:cNvCxnSpPr>
          <p:nvPr/>
        </p:nvCxnSpPr>
        <p:spPr>
          <a:xfrm>
            <a:off x="8081574" y="1411125"/>
            <a:ext cx="362400" cy="9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0" name="Google Shape;280;p31"/>
          <p:cNvSpPr/>
          <p:nvPr/>
        </p:nvSpPr>
        <p:spPr>
          <a:xfrm>
            <a:off x="8100935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281" name="Google Shape;281;p31"/>
          <p:cNvSpPr/>
          <p:nvPr/>
        </p:nvSpPr>
        <p:spPr>
          <a:xfrm>
            <a:off x="6812260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287" name="Google Shape;2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32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289" name="Google Shape;289;p32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290" name="Google Shape;2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32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292" name="Google Shape;292;p32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293" name="Google Shape;293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32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295" name="Google Shape;295;p32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296" name="Google Shape;296;p32"/>
          <p:cNvCxnSpPr>
            <a:stCxn id="291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7" name="Google Shape;297;p32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5906025" y="2200750"/>
            <a:ext cx="1375500" cy="572700"/>
          </a:xfrm>
          <a:prstGeom prst="wedgeRoundRectCallout">
            <a:avLst>
              <a:gd fmla="val -109784" name="adj1"/>
              <a:gd fmla="val 53942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Coder releases version when finished.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299" name="Google Shape;299;p32"/>
          <p:cNvSpPr/>
          <p:nvPr/>
        </p:nvSpPr>
        <p:spPr>
          <a:xfrm>
            <a:off x="31293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00" name="Google Shape;300;p32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01" name="Google Shape;301;p32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3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33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311" name="Google Shape;311;p33"/>
            <p:cNvPicPr preferRelativeResize="0"/>
            <p:nvPr/>
          </p:nvPicPr>
          <p:blipFill rotWithShape="1">
            <a:blip r:embed="rId5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33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13" name="Google Shape;313;p33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14" name="Google Shape;314;p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33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7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316" name="Google Shape;316;p33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7" name="Google Shape;317;p33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319" name="Google Shape;319;p33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4100" y="3519575"/>
            <a:ext cx="396300" cy="3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4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28" name="Google Shape;328;p34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34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330" name="Google Shape;330;p34"/>
            <p:cNvPicPr preferRelativeResize="0"/>
            <p:nvPr/>
          </p:nvPicPr>
          <p:blipFill rotWithShape="1">
            <a:blip r:embed="rId6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34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32" name="Google Shape;332;p34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33" name="Google Shape;333;p3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34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8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335" name="Google Shape;335;p34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6" name="Google Shape;336;p34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337" name="Google Shape;337;p34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338" name="Google Shape;338;p34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339" name="Google Shape;339;p34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340" name="Google Shape;340;p3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34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342" name="Google Shape;342;p34"/>
          <p:cNvCxnSpPr/>
          <p:nvPr/>
        </p:nvCxnSpPr>
        <p:spPr>
          <a:xfrm>
            <a:off x="7236775" y="2594175"/>
            <a:ext cx="897300" cy="957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3" name="Google Shape;343;p34"/>
          <p:cNvSpPr txBox="1"/>
          <p:nvPr/>
        </p:nvSpPr>
        <p:spPr>
          <a:xfrm rot="2700000">
            <a:off x="7256190" y="2735209"/>
            <a:ext cx="910471" cy="6465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reports issue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8014250" y="3739775"/>
            <a:ext cx="91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Lian F.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345" name="Google Shape;345;p34"/>
          <p:cNvCxnSpPr/>
          <p:nvPr/>
        </p:nvCxnSpPr>
        <p:spPr>
          <a:xfrm>
            <a:off x="8305850" y="3984725"/>
            <a:ext cx="14700" cy="186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51" name="Google Shape;35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35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353" name="Google Shape;353;p35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354" name="Google Shape;35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35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56" name="Google Shape;356;p35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57" name="Google Shape;357;p3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35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359" name="Google Shape;359;p35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360" name="Google Shape;360;p35"/>
          <p:cNvCxnSpPr>
            <a:stCxn id="355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1" name="Google Shape;361;p35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362" name="Google Shape;362;p35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363" name="Google Shape;363;p3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35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365" name="Google Shape;365;p35"/>
          <p:cNvCxnSpPr/>
          <p:nvPr/>
        </p:nvCxnSpPr>
        <p:spPr>
          <a:xfrm>
            <a:off x="6384525" y="2108225"/>
            <a:ext cx="1644600" cy="2055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6" name="Google Shape;366;p35"/>
          <p:cNvSpPr txBox="1"/>
          <p:nvPr/>
        </p:nvSpPr>
        <p:spPr>
          <a:xfrm rot="3014526">
            <a:off x="6814430" y="2695812"/>
            <a:ext cx="784777" cy="4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372" name="Google Shape;372;p36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373" name="Google Shape;3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36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375" name="Google Shape;37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2068875" y="8339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the expert needs: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8" name="Google Shape;378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6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381" name="Google Shape;381;p36"/>
            <p:cNvPicPr preferRelativeResize="0"/>
            <p:nvPr/>
          </p:nvPicPr>
          <p:blipFill rotWithShape="1">
            <a:blip r:embed="rId7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36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383" name="Google Shape;383;p36"/>
          <p:cNvCxnSpPr/>
          <p:nvPr/>
        </p:nvCxnSpPr>
        <p:spPr>
          <a:xfrm flipH="1" rot="10800000">
            <a:off x="1394100" y="2304425"/>
            <a:ext cx="1642500" cy="700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36"/>
          <p:cNvCxnSpPr/>
          <p:nvPr/>
        </p:nvCxnSpPr>
        <p:spPr>
          <a:xfrm flipH="1" rot="10800000">
            <a:off x="3615725" y="2821775"/>
            <a:ext cx="95700" cy="545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36"/>
          <p:cNvCxnSpPr/>
          <p:nvPr/>
        </p:nvCxnSpPr>
        <p:spPr>
          <a:xfrm rot="10800000">
            <a:off x="4513300" y="2648100"/>
            <a:ext cx="1374900" cy="693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391" name="Google Shape;391;p37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392" name="Google Shape;392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37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394" name="Google Shape;39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7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2145075" y="6815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to update the spec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97" name="Google Shape;39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" name="Google Shape;399;p37"/>
          <p:cNvGrpSpPr/>
          <p:nvPr/>
        </p:nvGrpSpPr>
        <p:grpSpPr>
          <a:xfrm>
            <a:off x="6409334" y="766838"/>
            <a:ext cx="1337781" cy="1083336"/>
            <a:chOff x="5658150" y="1181725"/>
            <a:chExt cx="919500" cy="673800"/>
          </a:xfrm>
        </p:grpSpPr>
        <p:pic>
          <p:nvPicPr>
            <p:cNvPr id="400" name="Google Shape;400;p3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919750" y="1181725"/>
              <a:ext cx="396300" cy="39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7"/>
            <p:cNvSpPr txBox="1"/>
            <p:nvPr/>
          </p:nvSpPr>
          <p:spPr>
            <a:xfrm>
              <a:off x="5658150" y="1578025"/>
              <a:ext cx="919500" cy="2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2"/>
                  </a:solidFill>
                </a:rPr>
                <a:t>Lian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grpSp>
        <p:nvGrpSpPr>
          <p:cNvPr id="402" name="Google Shape;402;p37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403" name="Google Shape;403;p37"/>
            <p:cNvPicPr preferRelativeResize="0"/>
            <p:nvPr/>
          </p:nvPicPr>
          <p:blipFill rotWithShape="1">
            <a:blip r:embed="rId8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7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405" name="Google Shape;405;p37"/>
          <p:cNvCxnSpPr/>
          <p:nvPr/>
        </p:nvCxnSpPr>
        <p:spPr>
          <a:xfrm>
            <a:off x="4419459" y="2571751"/>
            <a:ext cx="1500300" cy="810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37"/>
          <p:cNvCxnSpPr/>
          <p:nvPr/>
        </p:nvCxnSpPr>
        <p:spPr>
          <a:xfrm flipH="1" rot="10800000">
            <a:off x="4513300" y="1546800"/>
            <a:ext cx="1979700" cy="458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7"/>
          <p:cNvCxnSpPr/>
          <p:nvPr/>
        </p:nvCxnSpPr>
        <p:spPr>
          <a:xfrm flipH="1">
            <a:off x="6493025" y="2056125"/>
            <a:ext cx="203700" cy="980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p37"/>
          <p:cNvSpPr txBox="1"/>
          <p:nvPr/>
        </p:nvSpPr>
        <p:spPr>
          <a:xfrm rot="1703636">
            <a:off x="4571941" y="2565206"/>
            <a:ext cx="1349439" cy="461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comments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409" name="Google Shape;409;p37"/>
          <p:cNvSpPr txBox="1"/>
          <p:nvPr/>
        </p:nvSpPr>
        <p:spPr>
          <a:xfrm rot="-715917">
            <a:off x="4727663" y="1438681"/>
            <a:ext cx="1349457" cy="461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feedback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410" name="Google Shape;410;p37"/>
          <p:cNvSpPr txBox="1"/>
          <p:nvPr/>
        </p:nvSpPr>
        <p:spPr>
          <a:xfrm rot="-4674635">
            <a:off x="5796029" y="2128882"/>
            <a:ext cx="1349325" cy="4617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edits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Formular</a:t>
            </a:r>
            <a:endParaRPr/>
          </a:p>
        </p:txBody>
      </p:sp>
      <p:pic>
        <p:nvPicPr>
          <p:cNvPr id="416" name="Google Shape;4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321" y="1587074"/>
            <a:ext cx="2791725" cy="31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422" name="Google Shape;422;p39"/>
          <p:cNvGrpSpPr/>
          <p:nvPr/>
        </p:nvGrpSpPr>
        <p:grpSpPr>
          <a:xfrm>
            <a:off x="392870" y="445624"/>
            <a:ext cx="7837918" cy="4664355"/>
            <a:chOff x="392875" y="941525"/>
            <a:chExt cx="6978824" cy="4168324"/>
          </a:xfrm>
        </p:grpSpPr>
        <p:grpSp>
          <p:nvGrpSpPr>
            <p:cNvPr id="423" name="Google Shape;423;p39"/>
            <p:cNvGrpSpPr/>
            <p:nvPr/>
          </p:nvGrpSpPr>
          <p:grpSpPr>
            <a:xfrm>
              <a:off x="392875" y="941525"/>
              <a:ext cx="6978824" cy="4168324"/>
              <a:chOff x="392875" y="941525"/>
              <a:chExt cx="6978824" cy="4168324"/>
            </a:xfrm>
          </p:grpSpPr>
          <p:sp>
            <p:nvSpPr>
              <p:cNvPr id="424" name="Google Shape;424;p39"/>
              <p:cNvSpPr/>
              <p:nvPr/>
            </p:nvSpPr>
            <p:spPr>
              <a:xfrm>
                <a:off x="5744600" y="2217025"/>
                <a:ext cx="1041300" cy="153900"/>
              </a:xfrm>
              <a:prstGeom prst="rect">
                <a:avLst/>
              </a:prstGeom>
              <a:solidFill>
                <a:srgbClr val="9F8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25" name="Google Shape;425;p3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92875" y="941525"/>
                <a:ext cx="6978824" cy="41683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6" name="Google Shape;426;p39"/>
              <p:cNvSpPr/>
              <p:nvPr/>
            </p:nvSpPr>
            <p:spPr>
              <a:xfrm>
                <a:off x="5979975" y="3592600"/>
                <a:ext cx="591600" cy="141600"/>
              </a:xfrm>
              <a:prstGeom prst="rect">
                <a:avLst/>
              </a:prstGeom>
              <a:solidFill>
                <a:srgbClr val="9F8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39"/>
              <p:cNvSpPr/>
              <p:nvPr/>
            </p:nvSpPr>
            <p:spPr>
              <a:xfrm>
                <a:off x="5987210" y="2287384"/>
                <a:ext cx="591600" cy="141600"/>
              </a:xfrm>
              <a:prstGeom prst="rect">
                <a:avLst/>
              </a:prstGeom>
              <a:solidFill>
                <a:srgbClr val="9F8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" name="Google Shape;428;p39"/>
            <p:cNvGrpSpPr/>
            <p:nvPr/>
          </p:nvGrpSpPr>
          <p:grpSpPr>
            <a:xfrm>
              <a:off x="5519305" y="2437466"/>
              <a:ext cx="122411" cy="144243"/>
              <a:chOff x="6439200" y="3003650"/>
              <a:chExt cx="154325" cy="181850"/>
            </a:xfrm>
          </p:grpSpPr>
          <p:sp>
            <p:nvSpPr>
              <p:cNvPr id="429" name="Google Shape;429;p39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39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1" name="Google Shape;431;p39"/>
            <p:cNvGrpSpPr/>
            <p:nvPr/>
          </p:nvGrpSpPr>
          <p:grpSpPr>
            <a:xfrm>
              <a:off x="6408009" y="3221141"/>
              <a:ext cx="122411" cy="144243"/>
              <a:chOff x="6439200" y="3003650"/>
              <a:chExt cx="154325" cy="181850"/>
            </a:xfrm>
          </p:grpSpPr>
          <p:sp>
            <p:nvSpPr>
              <p:cNvPr id="432" name="Google Shape;432;p39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9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4" name="Google Shape;434;p39"/>
            <p:cNvSpPr/>
            <p:nvPr/>
          </p:nvSpPr>
          <p:spPr>
            <a:xfrm>
              <a:off x="4927275" y="2432650"/>
              <a:ext cx="5745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Adapter 3</a:t>
              </a:r>
              <a:endParaRPr sz="600"/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6195284" y="3217071"/>
              <a:ext cx="1923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1</a:t>
              </a:r>
              <a:endParaRPr sz="600"/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5890484" y="2889843"/>
              <a:ext cx="1923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2</a:t>
              </a:r>
              <a:endParaRPr sz="600"/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6074228" y="3042243"/>
              <a:ext cx="2028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4</a:t>
              </a:r>
              <a:endParaRPr sz="600"/>
            </a:p>
          </p:txBody>
        </p:sp>
        <p:sp>
          <p:nvSpPr>
            <p:cNvPr id="438" name="Google Shape;438;p39"/>
            <p:cNvSpPr/>
            <p:nvPr/>
          </p:nvSpPr>
          <p:spPr>
            <a:xfrm>
              <a:off x="5471922" y="2585043"/>
              <a:ext cx="2028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5</a:t>
              </a:r>
              <a:endParaRPr sz="600"/>
            </a:p>
          </p:txBody>
        </p:sp>
        <p:sp>
          <p:nvSpPr>
            <p:cNvPr id="439" name="Google Shape;439;p39"/>
            <p:cNvSpPr/>
            <p:nvPr/>
          </p:nvSpPr>
          <p:spPr>
            <a:xfrm>
              <a:off x="5676472" y="2737443"/>
              <a:ext cx="202800" cy="153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A. 6</a:t>
              </a:r>
              <a:endParaRPr sz="600"/>
            </a:p>
          </p:txBody>
        </p:sp>
        <p:grpSp>
          <p:nvGrpSpPr>
            <p:cNvPr id="440" name="Google Shape;440;p39"/>
            <p:cNvGrpSpPr/>
            <p:nvPr/>
          </p:nvGrpSpPr>
          <p:grpSpPr>
            <a:xfrm>
              <a:off x="6110685" y="2893913"/>
              <a:ext cx="122411" cy="144243"/>
              <a:chOff x="6439200" y="3003650"/>
              <a:chExt cx="154325" cy="181850"/>
            </a:xfrm>
          </p:grpSpPr>
          <p:sp>
            <p:nvSpPr>
              <p:cNvPr id="441" name="Google Shape;441;p39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39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3" name="Google Shape;443;p39"/>
            <p:cNvGrpSpPr/>
            <p:nvPr/>
          </p:nvGrpSpPr>
          <p:grpSpPr>
            <a:xfrm>
              <a:off x="6278037" y="3046313"/>
              <a:ext cx="122411" cy="144243"/>
              <a:chOff x="6439200" y="3003650"/>
              <a:chExt cx="154325" cy="181850"/>
            </a:xfrm>
          </p:grpSpPr>
          <p:sp>
            <p:nvSpPr>
              <p:cNvPr id="444" name="Google Shape;444;p39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39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6" name="Google Shape;446;p39"/>
            <p:cNvGrpSpPr/>
            <p:nvPr/>
          </p:nvGrpSpPr>
          <p:grpSpPr>
            <a:xfrm>
              <a:off x="5683389" y="2589113"/>
              <a:ext cx="122411" cy="144243"/>
              <a:chOff x="6439200" y="3003650"/>
              <a:chExt cx="154325" cy="181850"/>
            </a:xfrm>
          </p:grpSpPr>
          <p:sp>
            <p:nvSpPr>
              <p:cNvPr id="447" name="Google Shape;447;p39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39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9" name="Google Shape;449;p39"/>
            <p:cNvGrpSpPr/>
            <p:nvPr/>
          </p:nvGrpSpPr>
          <p:grpSpPr>
            <a:xfrm>
              <a:off x="5910549" y="2741513"/>
              <a:ext cx="122411" cy="144243"/>
              <a:chOff x="6439200" y="3003650"/>
              <a:chExt cx="154325" cy="181850"/>
            </a:xfrm>
          </p:grpSpPr>
          <p:sp>
            <p:nvSpPr>
              <p:cNvPr id="450" name="Google Shape;450;p39"/>
              <p:cNvSpPr/>
              <p:nvPr/>
            </p:nvSpPr>
            <p:spPr>
              <a:xfrm>
                <a:off x="6439200" y="300365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39"/>
              <p:cNvSpPr/>
              <p:nvPr/>
            </p:nvSpPr>
            <p:spPr>
              <a:xfrm rot="10800000">
                <a:off x="6473825" y="3062800"/>
                <a:ext cx="119700" cy="1227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All Feedback and Issues can be managed in Jira</a:t>
            </a:r>
            <a:endParaRPr/>
          </a:p>
        </p:txBody>
      </p:sp>
      <p:pic>
        <p:nvPicPr>
          <p:cNvPr id="457" name="Google Shape;45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850" y="931725"/>
            <a:ext cx="4681116" cy="4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Mails with instructions</a:t>
            </a:r>
            <a:endParaRPr/>
          </a:p>
        </p:txBody>
      </p:sp>
      <p:sp>
        <p:nvSpPr>
          <p:cNvPr id="463" name="Google Shape;463;p41"/>
          <p:cNvSpPr txBox="1"/>
          <p:nvPr/>
        </p:nvSpPr>
        <p:spPr>
          <a:xfrm>
            <a:off x="311700" y="1022925"/>
            <a:ext cx="282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Who are the </a:t>
            </a:r>
            <a:r>
              <a:rPr lang="en" sz="1800">
                <a:solidFill>
                  <a:schemeClr val="dk2"/>
                </a:solidFill>
              </a:rPr>
              <a:t>recipients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64" name="Google Shape;46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797650"/>
            <a:ext cx="3603575" cy="20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1"/>
          <p:cNvSpPr/>
          <p:nvPr/>
        </p:nvSpPr>
        <p:spPr>
          <a:xfrm>
            <a:off x="181600" y="186500"/>
            <a:ext cx="5114100" cy="418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