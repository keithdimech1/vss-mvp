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italic.fntdata"/><Relationship Id="rId21" Type="http://schemas.openxmlformats.org/officeDocument/2006/relationships/slide" Target="slides/slide16.xml"/><Relationship Id="rId43" Type="http://schemas.openxmlformats.org/officeDocument/2006/relationships/font" Target="fonts/Robot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e1aed07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e1aed07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054ee4712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054ee4712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054ee4712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054ee4712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20955d0b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20955d0b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20955d0b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20955d0b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20955d0b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20955d0b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20955d0b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20955d0b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20955d0b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20955d0b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20955d0b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20955d0b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2600fe39d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2600fe39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2600fe39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12600fe39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054ee4712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054ee4712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54ee4712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54ee4712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e9a89e80f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e9a89e80f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054ee471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054ee471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054ee4712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054ee4712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071df19e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071df19e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54ee4712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054ee4712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054ee47127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054ee47127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054ee4712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054ee4712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054ee47127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054ee47127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054ee47127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054ee47127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054ee4712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054ee4712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fe1aed078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2fe1aed078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fe1aed078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fe1aed078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fe1aed078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fe1aed078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fe1aed078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fe1aed078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fe1aed0782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fe1aed078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e1aed078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fe1aed078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fe1aed078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fe1aed078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fe1aed078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fe1aed078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2fe1aed0782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2fe1aed0782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fe1aed0782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2fe1aed078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f52591b32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2f52591b32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e9a89e80f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2e9a89e80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hyperlink" Target="https://docs.google.com/spreadsheets/d/1BHN1w1_zBh2qr__xCxBEBaxhxoPrHszlSbtSp-cH7wU/edit?gid=1331691682#gid=1331691682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hyperlink" Target="https://csiroau.sharepoint.com/:x:/r/sites/Lithodatshared/_layouts/15/Doc.aspx?sourcedoc=%7B01F2F076-730A-448A-8A23-35A339058DDF%7D&amp;file=ANSTO%20GNIP%20mapping.xlsx&amp;action=default&amp;mobileredirect=tru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google.com/spreadsheets/d/1e-W2KWq2OmzTgEl0CTMDbblzHfjFX_76/edit?gid=1715805412#gid=1715805412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hyperlink" Target="https://docs.google.com/spreadsheets/d/1BHN1w1_zBh2qr__xCxBEBaxhxoPrHszlSbtSp-cH7wU/edit?gid=1331691682#gid=1331691682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hyperlink" Target="https://docs.google.com/spreadsheets/d/1BHN1w1_zBh2qr__xCxBEBaxhxoPrHszlSbtSp-cH7wU/edit?gid=1331691682#gid=1331691682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lithodat.atlassian.net/browse/CA-32" TargetMode="External"/><Relationship Id="rId4" Type="http://schemas.openxmlformats.org/officeDocument/2006/relationships/image" Target="../media/image22.png"/><Relationship Id="rId5" Type="http://schemas.openxmlformats.org/officeDocument/2006/relationships/hyperlink" Target="https://docs.google.com/presentation/d/1jI2pCFa_sS55FlHLN9mCgdgwrH-vFye-i6TcxHham6A/edit#slide=id.g3009b42d67f_0_20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hyperlink" Target="https://docs.google.com/spreadsheets/d/1BHN1w1_zBh2qr__xCxBEBaxhxoPrHszlSbtSp-cH7wU/edit?gid=438698195#gid=438698195" TargetMode="External"/><Relationship Id="rId6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hyperlink" Target="https://docs.google.com/spreadsheets/d/1BHN1w1_zBh2qr__xCxBEBaxhxoPrHszlSbtSp-cH7wU/edit?gid=438698195#gid=438698195" TargetMode="External"/><Relationship Id="rId6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7.png"/><Relationship Id="rId6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Relationship Id="rId7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27.png"/><Relationship Id="rId8" Type="http://schemas.openxmlformats.org/officeDocument/2006/relationships/hyperlink" Target="https://docs.google.com/spreadsheets/d/1BHN1w1_zBh2qr__xCxBEBaxhxoPrHszlSbtSp-cH7wU/edit?gid=438698195#gid=438698195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7.png"/><Relationship Id="rId6" Type="http://schemas.openxmlformats.org/officeDocument/2006/relationships/hyperlink" Target="https://docs.google.com/spreadsheets/d/1BHN1w1_zBh2qr__xCxBEBaxhxoPrHszlSbtSp-cH7wU/edit?gid=438698195#gid=438698195" TargetMode="External"/><Relationship Id="rId7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Relationship Id="rId4" Type="http://schemas.openxmlformats.org/officeDocument/2006/relationships/hyperlink" Target="https://docs.google.com/spreadsheets/d/1BHN1w1_zBh2qr__xCxBEBaxhxoPrHszlSbtSp-cH7wU/edit?gid=438698195#gid=438698195" TargetMode="External"/><Relationship Id="rId5" Type="http://schemas.openxmlformats.org/officeDocument/2006/relationships/image" Target="../media/image12.png"/><Relationship Id="rId6" Type="http://schemas.openxmlformats.org/officeDocument/2006/relationships/image" Target="../media/image25.png"/><Relationship Id="rId7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7.png"/><Relationship Id="rId4" Type="http://schemas.openxmlformats.org/officeDocument/2006/relationships/hyperlink" Target="https://docs.google.com/spreadsheets/d/1BHN1w1_zBh2qr__xCxBEBaxhxoPrHszlSbtSp-cH7wU/edit?gid=438698195#gid=438698195" TargetMode="External"/><Relationship Id="rId5" Type="http://schemas.openxmlformats.org/officeDocument/2006/relationships/image" Target="../media/image12.png"/><Relationship Id="rId6" Type="http://schemas.openxmlformats.org/officeDocument/2006/relationships/image" Target="../media/image25.png"/><Relationship Id="rId7" Type="http://schemas.openxmlformats.org/officeDocument/2006/relationships/image" Target="../media/image20.png"/><Relationship Id="rId8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Isotopes.au Team Meeting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CSIRO &amp; ANSTO</a:t>
            </a:r>
            <a:r>
              <a:rPr lang="en"/>
              <a:t> &amp; </a:t>
            </a:r>
            <a:r>
              <a:rPr lang="en"/>
              <a:t>GA</a:t>
            </a:r>
            <a:r>
              <a:rPr lang="en"/>
              <a:t> &amp; </a:t>
            </a:r>
            <a:r>
              <a:rPr lang="en"/>
              <a:t>Lithodat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Model &amp; Adapters is Basis for UI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280" y="712925"/>
            <a:ext cx="3791501" cy="186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7325" y="3165252"/>
            <a:ext cx="3876275" cy="1935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4"/>
          <p:cNvCxnSpPr>
            <a:stCxn id="61" idx="2"/>
            <a:endCxn id="62" idx="0"/>
          </p:cNvCxnSpPr>
          <p:nvPr/>
        </p:nvCxnSpPr>
        <p:spPr>
          <a:xfrm flipH="1">
            <a:off x="6185430" y="2579050"/>
            <a:ext cx="3600" cy="5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64" name="Google Shape;64;p14"/>
          <p:cNvCxnSpPr/>
          <p:nvPr/>
        </p:nvCxnSpPr>
        <p:spPr>
          <a:xfrm>
            <a:off x="348500" y="2912500"/>
            <a:ext cx="8320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/>
        </p:nvSpPr>
        <p:spPr>
          <a:xfrm>
            <a:off x="236350" y="2474326"/>
            <a:ext cx="430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UI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Model &amp; Adapters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84550" y="4091800"/>
            <a:ext cx="3237600" cy="877200"/>
          </a:xfrm>
          <a:prstGeom prst="wedgeRoundRectCallout">
            <a:avLst>
              <a:gd fmla="val -35329" name="adj1"/>
              <a:gd fmla="val -139229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This presentation focuses on the </a:t>
            </a:r>
            <a:r>
              <a:rPr b="1" lang="en">
                <a:solidFill>
                  <a:srgbClr val="666666"/>
                </a:solidFill>
              </a:rPr>
              <a:t>Model &amp; Adapter</a:t>
            </a:r>
            <a:r>
              <a:rPr lang="en">
                <a:solidFill>
                  <a:srgbClr val="666666"/>
                </a:solidFill>
              </a:rPr>
              <a:t> development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9175" y="152400"/>
            <a:ext cx="7302274" cy="4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>
            <p:ph type="title"/>
          </p:nvPr>
        </p:nvSpPr>
        <p:spPr>
          <a:xfrm>
            <a:off x="44875" y="41150"/>
            <a:ext cx="158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State of Adapters 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5930097" y="15937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4" name="Google Shape;74;p15"/>
          <p:cNvSpPr/>
          <p:nvPr/>
        </p:nvSpPr>
        <p:spPr>
          <a:xfrm>
            <a:off x="8297997" y="39645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5" name="Google Shape;75;p15"/>
          <p:cNvSpPr/>
          <p:nvPr/>
        </p:nvSpPr>
        <p:spPr>
          <a:xfrm>
            <a:off x="3542322" y="15184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6" name="Google Shape;76;p15"/>
          <p:cNvSpPr/>
          <p:nvPr/>
        </p:nvSpPr>
        <p:spPr>
          <a:xfrm>
            <a:off x="338010" y="15003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77" name="Google Shape;77;p15"/>
          <p:cNvSpPr/>
          <p:nvPr/>
        </p:nvSpPr>
        <p:spPr>
          <a:xfrm>
            <a:off x="338010" y="32661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78" name="Google Shape;78;p15"/>
          <p:cNvSpPr txBox="1"/>
          <p:nvPr/>
        </p:nvSpPr>
        <p:spPr>
          <a:xfrm>
            <a:off x="93938" y="2094725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Technically Working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93938" y="3964500"/>
            <a:ext cx="117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Ready for Production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3374172" y="39645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  <p:sp>
        <p:nvSpPr>
          <p:cNvPr id="81" name="Google Shape;81;p15"/>
          <p:cNvSpPr/>
          <p:nvPr/>
        </p:nvSpPr>
        <p:spPr>
          <a:xfrm>
            <a:off x="7909376" y="1401578"/>
            <a:ext cx="919500" cy="9195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6806425" y="2196725"/>
            <a:ext cx="1280400" cy="442500"/>
          </a:xfrm>
          <a:prstGeom prst="wedgeRoundRectCallout">
            <a:avLst>
              <a:gd fmla="val 36161" name="adj1"/>
              <a:gd fmla="val -84000" name="adj2"/>
              <a:gd fmla="val 0" name="adj3"/>
            </a:avLst>
          </a:prstGeom>
          <a:solidFill>
            <a:srgbClr val="FFF8E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This one is new since last time.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8026235" y="159377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4A86E8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“Ready for Production”</a:t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50" y="2683798"/>
            <a:ext cx="7451349" cy="10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370925" y="1058450"/>
            <a:ext cx="4687500" cy="864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All required fields need to have been approved by an expert.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673200" y="3682800"/>
            <a:ext cx="132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Ontology definition sheet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109700" y="3046925"/>
            <a:ext cx="889500" cy="51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5891125" y="4107475"/>
            <a:ext cx="2496900" cy="695400"/>
          </a:xfrm>
          <a:prstGeom prst="wedgeRoundRectCallout">
            <a:avLst>
              <a:gd fmla="val 16169" name="adj1"/>
              <a:gd fmla="val -128933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Not approved yet.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2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636575"/>
            <a:ext cx="5579400" cy="45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1155CC"/>
                </a:solidFill>
              </a:rPr>
              <a:t>8</a:t>
            </a:r>
            <a:r>
              <a:rPr b="1" lang="en" sz="2000">
                <a:solidFill>
                  <a:srgbClr val="1155CC"/>
                </a:solidFill>
              </a:rPr>
              <a:t> of 13</a:t>
            </a:r>
            <a:r>
              <a:rPr lang="en" sz="2000"/>
              <a:t> Required Mappings APPROVED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Visibility: PUBLIC on TEST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Automatic Updat</a:t>
            </a:r>
            <a:r>
              <a:rPr lang="en" sz="1700"/>
              <a:t>es: no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/>
              <a:t>Progress on the 13 required fields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Required Fields To Be Specified:</a:t>
            </a:r>
            <a:endParaRPr sz="17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Char char="○"/>
            </a:pPr>
            <a:r>
              <a:rPr b="1" lang="en" sz="1300">
                <a:solidFill>
                  <a:srgbClr val="6AA84F"/>
                </a:solidFill>
              </a:rPr>
              <a:t>none</a:t>
            </a:r>
            <a:endParaRPr b="1" sz="1300">
              <a:solidFill>
                <a:srgbClr val="6AA84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Required Fields To Be Implemented:</a:t>
            </a:r>
            <a:endParaRPr sz="17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300"/>
              <a:buChar char="○"/>
            </a:pPr>
            <a:r>
              <a:rPr b="1" lang="en" sz="1300">
                <a:solidFill>
                  <a:srgbClr val="6AA84F"/>
                </a:solidFill>
              </a:rPr>
              <a:t>none</a:t>
            </a:r>
            <a:endParaRPr b="1" sz="1300">
              <a:solidFill>
                <a:srgbClr val="6AA84F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Required Fields To Be Approved:</a:t>
            </a:r>
            <a:endParaRPr sz="17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000"/>
              <a:t>UI_FILTER_PATH</a:t>
            </a:r>
            <a:endParaRPr sz="10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000"/>
              <a:t>SAMPLE_DATE_START</a:t>
            </a:r>
            <a:endParaRPr sz="10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000"/>
              <a:t>Publication</a:t>
            </a:r>
            <a:endParaRPr sz="1000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000"/>
              <a:t>Measurements:</a:t>
            </a:r>
            <a:endParaRPr sz="1300"/>
          </a:p>
          <a:p>
            <a:pPr indent="-2857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■"/>
            </a:pPr>
            <a:r>
              <a:rPr lang="en" sz="900"/>
              <a:t>δ2H-H2O (VSMOW)</a:t>
            </a:r>
            <a:endParaRPr sz="900"/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777" y="-1"/>
            <a:ext cx="2795225" cy="2806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9548" y="1214724"/>
            <a:ext cx="218025" cy="2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6348775" y="2719675"/>
            <a:ext cx="27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Cath + Jagoda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2350" y="3655775"/>
            <a:ext cx="4081326" cy="140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8455375" y="3385175"/>
            <a:ext cx="6429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6"/>
              </a:rPr>
              <a:t>link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3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 b="1254" l="1380" r="0" t="0"/>
          <a:stretch/>
        </p:blipFill>
        <p:spPr>
          <a:xfrm>
            <a:off x="6429375" y="0"/>
            <a:ext cx="2714625" cy="278855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18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Christoph + Axel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725700"/>
            <a:ext cx="5579400" cy="43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380"/>
              <a:buFont typeface="Arial"/>
              <a:buNone/>
            </a:pPr>
            <a:r>
              <a:rPr b="1" lang="en" sz="2100">
                <a:solidFill>
                  <a:srgbClr val="1155CC"/>
                </a:solidFill>
              </a:rPr>
              <a:t>9</a:t>
            </a:r>
            <a:r>
              <a:rPr b="1" lang="en" sz="2100">
                <a:solidFill>
                  <a:srgbClr val="1155CC"/>
                </a:solidFill>
              </a:rPr>
              <a:t> of 18</a:t>
            </a:r>
            <a:r>
              <a:rPr lang="en" sz="2100"/>
              <a:t> Required Mappings APPROVED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Visibility: PUBLIC on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Automatic Updates: </a:t>
            </a:r>
            <a:r>
              <a:rPr b="1" lang="en">
                <a:solidFill>
                  <a:srgbClr val="6AA84F"/>
                </a:solidFill>
              </a:rPr>
              <a:t>yes</a:t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Progress on the 18 required fields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Specified:</a:t>
            </a:r>
            <a:endParaRPr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SAMPLE_PROJECT_DESCRIPTION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SITE_ELEVATION_AHD_M </a:t>
            </a:r>
            <a:r>
              <a:rPr lang="en" sz="700"/>
              <a:t>(consider different cases)</a:t>
            </a:r>
            <a:endParaRPr sz="7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Implemented: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>
                <a:solidFill>
                  <a:srgbClr val="6AA84F"/>
                </a:solidFill>
              </a:rPr>
              <a:t>none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</a:t>
            </a:r>
            <a:r>
              <a:rPr lang="en"/>
              <a:t>o Be Approved</a:t>
            </a:r>
            <a:r>
              <a:rPr lang="en"/>
              <a:t>:</a:t>
            </a:r>
            <a:endParaRPr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UI_FILTER_PATH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SAMPLE_DATE_START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SAMPLE_TYPE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Measurements:</a:t>
            </a:r>
            <a:endParaRPr sz="1000"/>
          </a:p>
          <a:p>
            <a:pPr indent="-304164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■"/>
            </a:pPr>
            <a:r>
              <a:rPr lang="en" sz="1000"/>
              <a:t>δ13C-DIC (PDB)</a:t>
            </a:r>
            <a:endParaRPr sz="1000"/>
          </a:p>
          <a:p>
            <a:pPr indent="-304164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■"/>
            </a:pPr>
            <a:r>
              <a:rPr lang="en" sz="1000"/>
              <a:t>87Sr/86Sr-Bulk</a:t>
            </a:r>
            <a:endParaRPr sz="10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Other</a:t>
            </a:r>
            <a:endParaRPr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Filter out records without location</a:t>
            </a:r>
            <a:endParaRPr sz="1000"/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4">
            <a:alphaModFix/>
          </a:blip>
          <a:srcRect b="26948" l="0" r="0" t="0"/>
          <a:stretch/>
        </p:blipFill>
        <p:spPr>
          <a:xfrm>
            <a:off x="6429363" y="3917250"/>
            <a:ext cx="2040050" cy="111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5048" y="1272018"/>
            <a:ext cx="218025" cy="21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6549000" y="4304500"/>
            <a:ext cx="1497900" cy="339600"/>
          </a:xfrm>
          <a:prstGeom prst="wedgeRoundRectCallout">
            <a:avLst>
              <a:gd fmla="val 19463" name="adj1"/>
              <a:gd fmla="val -49378" name="adj2"/>
              <a:gd fmla="val 0" name="adj3"/>
            </a:avLst>
          </a:prstGeom>
          <a:solidFill>
            <a:srgbClr val="FFF9E5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</a:rPr>
              <a:t>Ignoring Data with Exposures lacking lat+lon.</a:t>
            </a:r>
            <a:endParaRPr sz="800">
              <a:solidFill>
                <a:srgbClr val="666666"/>
              </a:solidFill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4264225" y="4165350"/>
            <a:ext cx="1497900" cy="572700"/>
          </a:xfrm>
          <a:prstGeom prst="wedgeRoundRectCallout">
            <a:avLst>
              <a:gd fmla="val 19463" name="adj1"/>
              <a:gd fmla="val -49378" name="adj2"/>
              <a:gd fmla="val 0" name="adj3"/>
            </a:avLst>
          </a:prstGeom>
          <a:solidFill>
            <a:srgbClr val="FFF9E5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66666"/>
                </a:solidFill>
              </a:rPr>
              <a:t>Additional Measurements like Humidity and Precipitation</a:t>
            </a:r>
            <a:endParaRPr sz="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4</a:t>
            </a:r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7112" y="0"/>
            <a:ext cx="2776890" cy="28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Nina + Steve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11700" y="763700"/>
            <a:ext cx="5579400" cy="44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>
                <a:solidFill>
                  <a:srgbClr val="1155CC"/>
                </a:solidFill>
              </a:rPr>
              <a:t>3</a:t>
            </a:r>
            <a:r>
              <a:rPr b="1" lang="en" sz="2300">
                <a:solidFill>
                  <a:srgbClr val="1155CC"/>
                </a:solidFill>
              </a:rPr>
              <a:t> of 12</a:t>
            </a:r>
            <a:r>
              <a:rPr lang="en" sz="2300"/>
              <a:t> Required Mappings APPROVED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Visibility: PUBLIC on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Automatic Up</a:t>
            </a:r>
            <a:r>
              <a:rPr lang="en"/>
              <a:t>dates: no </a:t>
            </a:r>
            <a:r>
              <a:rPr lang="en" sz="1050"/>
              <a:t>(will be coming from DAP)</a:t>
            </a:r>
            <a:endParaRPr sz="10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Progress on the 12 required fields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Specified:</a:t>
            </a:r>
            <a:endParaRPr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SAMPLE_PROJECT_DESCRIPTION </a:t>
            </a:r>
            <a:r>
              <a:rPr lang="en" sz="1050"/>
              <a:t>(to come from DAP)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SAMPLE_PROJECT_IDENTIFIER </a:t>
            </a:r>
            <a:r>
              <a:rPr lang="en" sz="1050"/>
              <a:t>(to come from DAP)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PUBLICATION </a:t>
            </a:r>
            <a:r>
              <a:rPr lang="en" sz="1050"/>
              <a:t>(to come from DAP)</a:t>
            </a:r>
            <a:endParaRPr sz="1000"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Implemented: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en">
                <a:solidFill>
                  <a:srgbClr val="6AA84F"/>
                </a:solidFill>
              </a:rPr>
              <a:t>none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</a:t>
            </a:r>
            <a:r>
              <a:rPr lang="en"/>
              <a:t>o Be Approved</a:t>
            </a:r>
            <a:r>
              <a:rPr lang="en"/>
              <a:t>:</a:t>
            </a:r>
            <a:endParaRPr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UI_FILTER_PATH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SAMPLE_ID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SAMPLE_DATE_START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SITE_ELEVATION_AHD_M</a:t>
            </a:r>
            <a:endParaRPr sz="1000"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Measurements:</a:t>
            </a:r>
            <a:endParaRPr sz="1000"/>
          </a:p>
          <a:p>
            <a:pPr indent="-297497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■"/>
            </a:pPr>
            <a:r>
              <a:rPr lang="en" sz="1000"/>
              <a:t>δ18O-H2O  (VSMOW)</a:t>
            </a:r>
            <a:endParaRPr sz="1000"/>
          </a:p>
          <a:p>
            <a:pPr indent="-297497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■"/>
            </a:pPr>
            <a:r>
              <a:rPr lang="en" sz="1000"/>
              <a:t>δ2H-H2O (VSMOW)</a:t>
            </a:r>
            <a:endParaRPr sz="1000"/>
          </a:p>
          <a:p>
            <a:pPr indent="-317182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Other</a:t>
            </a:r>
            <a:endParaRPr/>
          </a:p>
          <a:p>
            <a:pPr indent="-297497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provisioning via DAP pending</a:t>
            </a:r>
            <a:endParaRPr sz="1000"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7848" y="1272018"/>
            <a:ext cx="218025" cy="2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5</a:t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4354" y="0"/>
            <a:ext cx="2759649" cy="28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Steph + Geoff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681125"/>
            <a:ext cx="5579400" cy="44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155CC"/>
                </a:solidFill>
              </a:rPr>
              <a:t>5</a:t>
            </a:r>
            <a:r>
              <a:rPr b="1" lang="en">
                <a:solidFill>
                  <a:srgbClr val="1155CC"/>
                </a:solidFill>
              </a:rPr>
              <a:t> of 11</a:t>
            </a:r>
            <a:r>
              <a:rPr lang="en"/>
              <a:t> Required Mappings APPROVED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Visibility: PUBLIC on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Automatic Updates: </a:t>
            </a:r>
            <a:r>
              <a:rPr b="1" lang="en">
                <a:solidFill>
                  <a:srgbClr val="93C47D"/>
                </a:solidFill>
              </a:rPr>
              <a:t>yes</a:t>
            </a:r>
            <a:endParaRPr b="1" sz="1050"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Progress on the 11 required fields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Required Fields To Be Specified:</a:t>
            </a:r>
            <a:endParaRPr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SAMPLE_PROJECT_DESCRIPTION</a:t>
            </a:r>
            <a:endParaRPr sz="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Required Fields To Be Implemented:</a:t>
            </a:r>
            <a:endParaRPr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PUBLICATION</a:t>
            </a:r>
            <a:endParaRPr sz="800"/>
          </a:p>
          <a:p>
            <a:pPr indent="-279400" lvl="1" marL="914400" rtl="0" algn="l"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SITE_ELEVATION_AHD_M </a:t>
            </a:r>
            <a:endParaRPr sz="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Required Fields T</a:t>
            </a:r>
            <a:r>
              <a:rPr lang="en"/>
              <a:t>o Be Approved</a:t>
            </a:r>
            <a:r>
              <a:rPr lang="en"/>
              <a:t>:</a:t>
            </a:r>
            <a:endParaRPr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UI_FILTER_PATH</a:t>
            </a:r>
            <a:endParaRPr sz="800"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SAMPLE_DATE_START</a:t>
            </a:r>
            <a:endParaRPr sz="800"/>
          </a:p>
          <a:p>
            <a:pPr indent="-279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</a:pPr>
            <a:r>
              <a:rPr lang="en" sz="800"/>
              <a:t>SAMPLE_TYPE</a:t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5048" y="1272018"/>
            <a:ext cx="218025" cy="2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6</a:t>
            </a:r>
            <a:endParaRPr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5850" y="0"/>
            <a:ext cx="2776505" cy="28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6348775" y="3024475"/>
            <a:ext cx="2795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Experts: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Steph + Geoff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311700" y="763875"/>
            <a:ext cx="5579400" cy="43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155CC"/>
                </a:solidFill>
              </a:rPr>
              <a:t>10 of 16</a:t>
            </a:r>
            <a:r>
              <a:rPr lang="en"/>
              <a:t> Required Mappings APPROVED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Visibility: PUBLIC on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Automatic Updates: </a:t>
            </a:r>
            <a:r>
              <a:rPr b="1" lang="en">
                <a:solidFill>
                  <a:srgbClr val="93C47D"/>
                </a:solidFill>
              </a:rPr>
              <a:t>yes</a:t>
            </a:r>
            <a:endParaRPr b="1" sz="1050"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Progress on the 16 required fields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Specified: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SAMPLE_PROJECT_DESCRIPTION (not available)</a:t>
            </a:r>
            <a:endParaRPr sz="1000"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SITE_ELEVATION_AHD_M (coming from service)</a:t>
            </a:r>
            <a:endParaRPr sz="10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To Be Implemented: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SAMPLE_DATE_START (see sampling date in feedback)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none</a:t>
            </a:r>
            <a:endParaRPr sz="1000"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Required Fields T</a:t>
            </a:r>
            <a:r>
              <a:rPr lang="en"/>
              <a:t>o Be Approved</a:t>
            </a:r>
            <a:r>
              <a:rPr lang="en"/>
              <a:t>:</a:t>
            </a:r>
            <a:endParaRPr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UI_FILTER_PATH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SAMPLE_TYPE</a:t>
            </a:r>
            <a:endParaRPr sz="1000"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○"/>
            </a:pPr>
            <a:r>
              <a:rPr lang="en" sz="1000"/>
              <a:t>Measurements:</a:t>
            </a:r>
            <a:endParaRPr sz="1000"/>
          </a:p>
          <a:p>
            <a:pPr indent="-304164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40000"/>
              <a:buChar char="■"/>
            </a:pPr>
            <a:r>
              <a:rPr lang="en" sz="1000"/>
              <a:t>δ13C-DIC (PDB)</a:t>
            </a:r>
            <a:endParaRPr sz="1000"/>
          </a:p>
          <a:p>
            <a:pPr indent="-32575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Other</a:t>
            </a:r>
            <a:endParaRPr/>
          </a:p>
          <a:p>
            <a:pPr indent="-30416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Ignore records with no measurements</a:t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3311" y="1227646"/>
            <a:ext cx="218025" cy="2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Adapter 1</a:t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152475"/>
            <a:ext cx="557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Implementation: not started yet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Plan: Implementation after  other packages are production ready.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Question: Is the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provided data</a:t>
            </a:r>
            <a:r>
              <a:rPr lang="en"/>
              <a:t> still up-to-date?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5900" y="0"/>
            <a:ext cx="2948100" cy="2960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23"/>
          <p:cNvGrpSpPr/>
          <p:nvPr/>
        </p:nvGrpSpPr>
        <p:grpSpPr>
          <a:xfrm>
            <a:off x="392870" y="445624"/>
            <a:ext cx="7837918" cy="4664355"/>
            <a:chOff x="392875" y="941525"/>
            <a:chExt cx="6978824" cy="4168324"/>
          </a:xfrm>
        </p:grpSpPr>
        <p:sp>
          <p:nvSpPr>
            <p:cNvPr id="156" name="Google Shape;156;p23"/>
            <p:cNvSpPr/>
            <p:nvPr/>
          </p:nvSpPr>
          <p:spPr>
            <a:xfrm>
              <a:off x="5744600" y="2217025"/>
              <a:ext cx="1041300" cy="1539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7" name="Google Shape;157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2875" y="941525"/>
              <a:ext cx="6978824" cy="4168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" name="Google Shape;158;p23"/>
            <p:cNvSpPr/>
            <p:nvPr/>
          </p:nvSpPr>
          <p:spPr>
            <a:xfrm>
              <a:off x="5979984" y="3592598"/>
              <a:ext cx="8058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5987219" y="2287393"/>
              <a:ext cx="868800" cy="141600"/>
            </a:xfrm>
            <a:prstGeom prst="rect">
              <a:avLst/>
            </a:prstGeom>
            <a:solidFill>
              <a:srgbClr val="9F8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0" name="Google Shape;160;p23"/>
          <p:cNvPicPr preferRelativeResize="0"/>
          <p:nvPr/>
        </p:nvPicPr>
        <p:blipFill rotWithShape="1">
          <a:blip r:embed="rId3">
            <a:alphaModFix/>
          </a:blip>
          <a:srcRect b="0" l="75234" r="0" t="0"/>
          <a:stretch/>
        </p:blipFill>
        <p:spPr>
          <a:xfrm>
            <a:off x="6251784" y="442420"/>
            <a:ext cx="1941100" cy="466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Lithodat internal Timeline</a:t>
            </a:r>
            <a:endParaRPr/>
          </a:p>
        </p:txBody>
      </p:sp>
      <p:grpSp>
        <p:nvGrpSpPr>
          <p:cNvPr id="162" name="Google Shape;162;p23"/>
          <p:cNvGrpSpPr/>
          <p:nvPr/>
        </p:nvGrpSpPr>
        <p:grpSpPr>
          <a:xfrm>
            <a:off x="6454887" y="2119610"/>
            <a:ext cx="137473" cy="161410"/>
            <a:chOff x="6439200" y="3003650"/>
            <a:chExt cx="154325" cy="181850"/>
          </a:xfrm>
        </p:grpSpPr>
        <p:sp>
          <p:nvSpPr>
            <p:cNvPr id="163" name="Google Shape;163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" name="Google Shape;165;p23"/>
          <p:cNvSpPr/>
          <p:nvPr/>
        </p:nvSpPr>
        <p:spPr>
          <a:xfrm>
            <a:off x="6057375" y="21142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1</a:t>
            </a:r>
            <a:endParaRPr sz="600"/>
          </a:p>
        </p:txBody>
      </p:sp>
      <p:grpSp>
        <p:nvGrpSpPr>
          <p:cNvPr id="166" name="Google Shape;166;p23"/>
          <p:cNvGrpSpPr/>
          <p:nvPr/>
        </p:nvGrpSpPr>
        <p:grpSpPr>
          <a:xfrm>
            <a:off x="6912087" y="2272010"/>
            <a:ext cx="137473" cy="161410"/>
            <a:chOff x="6439200" y="3003650"/>
            <a:chExt cx="154325" cy="181850"/>
          </a:xfrm>
        </p:grpSpPr>
        <p:sp>
          <p:nvSpPr>
            <p:cNvPr id="167" name="Google Shape;167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23"/>
          <p:cNvSpPr/>
          <p:nvPr/>
        </p:nvSpPr>
        <p:spPr>
          <a:xfrm>
            <a:off x="6514575" y="22666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2</a:t>
            </a:r>
            <a:endParaRPr sz="600"/>
          </a:p>
        </p:txBody>
      </p:sp>
      <p:grpSp>
        <p:nvGrpSpPr>
          <p:cNvPr id="170" name="Google Shape;170;p23"/>
          <p:cNvGrpSpPr/>
          <p:nvPr/>
        </p:nvGrpSpPr>
        <p:grpSpPr>
          <a:xfrm>
            <a:off x="7369287" y="2424410"/>
            <a:ext cx="137473" cy="161410"/>
            <a:chOff x="6439200" y="3003650"/>
            <a:chExt cx="154325" cy="181850"/>
          </a:xfrm>
        </p:grpSpPr>
        <p:sp>
          <p:nvSpPr>
            <p:cNvPr id="171" name="Google Shape;171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23"/>
          <p:cNvSpPr/>
          <p:nvPr/>
        </p:nvSpPr>
        <p:spPr>
          <a:xfrm>
            <a:off x="6971775" y="24190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3</a:t>
            </a:r>
            <a:endParaRPr sz="600"/>
          </a:p>
        </p:txBody>
      </p:sp>
      <p:grpSp>
        <p:nvGrpSpPr>
          <p:cNvPr id="174" name="Google Shape;174;p23"/>
          <p:cNvGrpSpPr/>
          <p:nvPr/>
        </p:nvGrpSpPr>
        <p:grpSpPr>
          <a:xfrm>
            <a:off x="7826487" y="2576810"/>
            <a:ext cx="137473" cy="161410"/>
            <a:chOff x="6439200" y="3003650"/>
            <a:chExt cx="154325" cy="181850"/>
          </a:xfrm>
        </p:grpSpPr>
        <p:sp>
          <p:nvSpPr>
            <p:cNvPr id="175" name="Google Shape;175;p23"/>
            <p:cNvSpPr/>
            <p:nvPr/>
          </p:nvSpPr>
          <p:spPr>
            <a:xfrm>
              <a:off x="6439200" y="300365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3"/>
            <p:cNvSpPr/>
            <p:nvPr/>
          </p:nvSpPr>
          <p:spPr>
            <a:xfrm rot="10800000">
              <a:off x="6473825" y="3062800"/>
              <a:ext cx="119700" cy="122700"/>
            </a:xfrm>
            <a:prstGeom prst="bentArrow">
              <a:avLst>
                <a:gd fmla="val 25000" name="adj1"/>
                <a:gd fmla="val 25000" name="adj2"/>
                <a:gd fmla="val 25000" name="adj3"/>
                <a:gd fmla="val 43750" name="adj4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7" name="Google Shape;177;p23"/>
          <p:cNvSpPr/>
          <p:nvPr/>
        </p:nvSpPr>
        <p:spPr>
          <a:xfrm>
            <a:off x="7428975" y="2571400"/>
            <a:ext cx="378000" cy="17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Round 4</a:t>
            </a:r>
            <a:endParaRPr sz="600"/>
          </a:p>
        </p:txBody>
      </p:sp>
      <p:sp>
        <p:nvSpPr>
          <p:cNvPr id="178" name="Google Shape;178;p23"/>
          <p:cNvSpPr/>
          <p:nvPr/>
        </p:nvSpPr>
        <p:spPr>
          <a:xfrm>
            <a:off x="6646925" y="1953300"/>
            <a:ext cx="1207200" cy="148500"/>
          </a:xfrm>
          <a:prstGeom prst="rect">
            <a:avLst/>
          </a:prstGeom>
          <a:solidFill>
            <a:srgbClr val="9F8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6608400" y="3412900"/>
            <a:ext cx="1169400" cy="148200"/>
          </a:xfrm>
          <a:prstGeom prst="rect">
            <a:avLst/>
          </a:prstGeom>
          <a:solidFill>
            <a:srgbClr val="9F8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6296350" y="665400"/>
            <a:ext cx="2535900" cy="818400"/>
          </a:xfrm>
          <a:prstGeom prst="wedgeRoundRectCallout">
            <a:avLst>
              <a:gd fmla="val 7557" name="adj1"/>
              <a:gd fmla="val 177309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Focus on </a:t>
            </a:r>
            <a:r>
              <a:rPr b="1" lang="en" sz="1200">
                <a:solidFill>
                  <a:srgbClr val="666666"/>
                </a:solidFill>
              </a:rPr>
              <a:t>SHOW STOPPER</a:t>
            </a:r>
            <a:r>
              <a:rPr lang="en" sz="1200">
                <a:solidFill>
                  <a:srgbClr val="666666"/>
                </a:solidFill>
              </a:rPr>
              <a:t>. We will upload data to production on </a:t>
            </a:r>
            <a:r>
              <a:rPr b="1" lang="en" sz="1200">
                <a:solidFill>
                  <a:srgbClr val="666666"/>
                </a:solidFill>
              </a:rPr>
              <a:t>Tuesday, 19. Nov.</a:t>
            </a:r>
            <a:endParaRPr b="1"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900" y="23261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4725" y="8883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/>
        </p:nvSpPr>
        <p:spPr>
          <a:xfrm>
            <a:off x="3451475" y="13901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3634225" y="18192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24"/>
          <p:cNvGrpSpPr/>
          <p:nvPr/>
        </p:nvGrpSpPr>
        <p:grpSpPr>
          <a:xfrm>
            <a:off x="7065825" y="1390088"/>
            <a:ext cx="904600" cy="1678113"/>
            <a:chOff x="6982600" y="177738"/>
            <a:chExt cx="904600" cy="1678113"/>
          </a:xfrm>
        </p:grpSpPr>
        <p:pic>
          <p:nvPicPr>
            <p:cNvPr id="190" name="Google Shape;190;p24"/>
            <p:cNvPicPr preferRelativeResize="0"/>
            <p:nvPr/>
          </p:nvPicPr>
          <p:blipFill rotWithShape="1">
            <a:blip r:embed="rId5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24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2" name="Google Shape;192;p24"/>
          <p:cNvSpPr/>
          <p:nvPr/>
        </p:nvSpPr>
        <p:spPr>
          <a:xfrm>
            <a:off x="4479025" y="13955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193" name="Google Shape;193;p24"/>
          <p:cNvSpPr txBox="1"/>
          <p:nvPr/>
        </p:nvSpPr>
        <p:spPr>
          <a:xfrm rot="1431975">
            <a:off x="5449006" y="16532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194" name="Google Shape;194;p24"/>
          <p:cNvGrpSpPr/>
          <p:nvPr/>
        </p:nvGrpSpPr>
        <p:grpSpPr>
          <a:xfrm>
            <a:off x="387074" y="863050"/>
            <a:ext cx="1514118" cy="1404725"/>
            <a:chOff x="7205063" y="2318745"/>
            <a:chExt cx="1218900" cy="1404725"/>
          </a:xfrm>
        </p:grpSpPr>
        <p:pic>
          <p:nvPicPr>
            <p:cNvPr id="195" name="Google Shape;195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4"/>
            <p:cNvSpPr txBox="1"/>
            <p:nvPr/>
          </p:nvSpPr>
          <p:spPr>
            <a:xfrm>
              <a:off x="7205063" y="3261770"/>
              <a:ext cx="1218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Lithodat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7" name="Google Shape;197;p24"/>
          <p:cNvSpPr/>
          <p:nvPr/>
        </p:nvSpPr>
        <p:spPr>
          <a:xfrm>
            <a:off x="159125" y="2267775"/>
            <a:ext cx="1801500" cy="1373400"/>
          </a:xfrm>
          <a:prstGeom prst="wedgeRoundRectCallout">
            <a:avLst>
              <a:gd fmla="val -50352" name="adj1"/>
              <a:gd fmla="val 17557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Lithodat ending round 3 by creating and running new version of adapters.</a:t>
            </a:r>
            <a:endParaRPr sz="12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(till Monday 11th with version 0.4.4)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7129200" y="3068200"/>
            <a:ext cx="1801500" cy="1185000"/>
          </a:xfrm>
          <a:prstGeom prst="wedgeRoundRectCallout">
            <a:avLst>
              <a:gd fmla="val -49438" name="adj1"/>
              <a:gd fmla="val 17003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isotope.au experts starting round 4 by comparing source with export files (v0.4.4).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199" name="Google Shape;199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Step: Round 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of Approving the Adapters</a:t>
            </a:r>
            <a:endParaRPr/>
          </a:p>
        </p:txBody>
      </p:sp>
      <p:grpSp>
        <p:nvGrpSpPr>
          <p:cNvPr id="205" name="Google Shape;205;p25"/>
          <p:cNvGrpSpPr/>
          <p:nvPr/>
        </p:nvGrpSpPr>
        <p:grpSpPr>
          <a:xfrm>
            <a:off x="366272" y="1943818"/>
            <a:ext cx="971854" cy="865103"/>
            <a:chOff x="2316074" y="2676425"/>
            <a:chExt cx="922500" cy="835525"/>
          </a:xfrm>
        </p:grpSpPr>
        <p:pic>
          <p:nvPicPr>
            <p:cNvPr id="206" name="Google Shape;206;p25"/>
            <p:cNvPicPr preferRelativeResize="0"/>
            <p:nvPr/>
          </p:nvPicPr>
          <p:blipFill rotWithShape="1">
            <a:blip r:embed="rId3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5"/>
            <p:cNvSpPr txBox="1"/>
            <p:nvPr/>
          </p:nvSpPr>
          <p:spPr>
            <a:xfrm>
              <a:off x="2316074" y="3229650"/>
              <a:ext cx="9225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grpSp>
        <p:nvGrpSpPr>
          <p:cNvPr id="208" name="Google Shape;208;p25"/>
          <p:cNvGrpSpPr/>
          <p:nvPr/>
        </p:nvGrpSpPr>
        <p:grpSpPr>
          <a:xfrm>
            <a:off x="311697" y="3350126"/>
            <a:ext cx="1211100" cy="844874"/>
            <a:chOff x="5317847" y="4187426"/>
            <a:chExt cx="1211100" cy="844874"/>
          </a:xfrm>
        </p:grpSpPr>
        <p:pic>
          <p:nvPicPr>
            <p:cNvPr id="209" name="Google Shape;209;p25"/>
            <p:cNvPicPr preferRelativeResize="0"/>
            <p:nvPr/>
          </p:nvPicPr>
          <p:blipFill rotWithShape="1">
            <a:blip r:embed="rId3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5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11" name="Google Shape;211;p25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2" name="Google Shape;212;p25"/>
          <p:cNvSpPr/>
          <p:nvPr/>
        </p:nvSpPr>
        <p:spPr>
          <a:xfrm rot="5400000">
            <a:off x="644550" y="2848175"/>
            <a:ext cx="545400" cy="367200"/>
          </a:xfrm>
          <a:prstGeom prst="leftRightArrow">
            <a:avLst>
              <a:gd fmla="val 46038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2630125" y="1943825"/>
            <a:ext cx="5847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How to check the mappings:</a:t>
            </a:r>
            <a:endParaRPr b="1" sz="18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Download the latest ontology.xls of your adapter.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Pick a random row from your proprietary.xls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Find the corresponding row in the ontology.xls.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Check the mappings. 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Repeat with other row if unsure.</a:t>
            </a:r>
            <a:endParaRPr sz="1700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AutoNum type="arabicPeriod"/>
            </a:pPr>
            <a:r>
              <a:rPr lang="en" sz="1700">
                <a:solidFill>
                  <a:schemeClr val="dk2"/>
                </a:solidFill>
              </a:rPr>
              <a:t>Update </a:t>
            </a:r>
            <a:r>
              <a:rPr lang="en" sz="1700" u="sng">
                <a:solidFill>
                  <a:schemeClr val="hlink"/>
                </a:solidFill>
                <a:hlinkClick r:id="rId4"/>
              </a:rPr>
              <a:t>ontology definition sheet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5659125" y="433200"/>
            <a:ext cx="3227400" cy="1383300"/>
          </a:xfrm>
          <a:prstGeom prst="wedgeRoundRectCallout">
            <a:avLst>
              <a:gd fmla="val -23175" name="adj1"/>
              <a:gd fmla="val -50025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666666"/>
                </a:solidFill>
              </a:rPr>
              <a:t>We are entering Round 4 on Monday coming week. Probably the last Round before going productive.</a:t>
            </a:r>
            <a:endParaRPr b="1" sz="15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Enable filtering by type on the  UI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pic>
        <p:nvPicPr>
          <p:cNvPr id="231" name="Google Shape;23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sp>
        <p:nvSpPr>
          <p:cNvPr id="238" name="Google Shape;238;p29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9" name="Google Shape;23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9"/>
          <p:cNvSpPr/>
          <p:nvPr/>
        </p:nvSpPr>
        <p:spPr>
          <a:xfrm>
            <a:off x="6033150" y="3700625"/>
            <a:ext cx="306600" cy="292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29"/>
          <p:cNvCxnSpPr>
            <a:stCxn id="241" idx="7"/>
          </p:cNvCxnSpPr>
          <p:nvPr/>
        </p:nvCxnSpPr>
        <p:spPr>
          <a:xfrm flipH="1" rot="10800000">
            <a:off x="6294849" y="3476461"/>
            <a:ext cx="221400" cy="26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3" name="Google Shape;243;p29"/>
          <p:cNvCxnSpPr>
            <a:stCxn id="244" idx="0"/>
            <a:endCxn id="241" idx="3"/>
          </p:cNvCxnSpPr>
          <p:nvPr/>
        </p:nvCxnSpPr>
        <p:spPr>
          <a:xfrm flipH="1" rot="10800000">
            <a:off x="5923251" y="3950289"/>
            <a:ext cx="154800" cy="24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5" name="Google Shape;245;p29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" name="Google Shape;246;p29"/>
          <p:cNvCxnSpPr>
            <a:stCxn id="239" idx="0"/>
            <a:endCxn id="245" idx="3"/>
          </p:cNvCxnSpPr>
          <p:nvPr/>
        </p:nvCxnSpPr>
        <p:spPr>
          <a:xfrm rot="10800000">
            <a:off x="5876288" y="2442302"/>
            <a:ext cx="929700" cy="61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247" name="Google Shape;247;p29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248" name="Google Shape;248;p29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p29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50" name="Google Shape;250;p29"/>
          <p:cNvSpPr/>
          <p:nvPr/>
        </p:nvSpPr>
        <p:spPr>
          <a:xfrm>
            <a:off x="5502350" y="4194200"/>
            <a:ext cx="842100" cy="76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"/>
          <p:cNvSpPr/>
          <p:nvPr/>
        </p:nvSpPr>
        <p:spPr>
          <a:xfrm>
            <a:off x="1607325" y="2781050"/>
            <a:ext cx="2496900" cy="695400"/>
          </a:xfrm>
          <a:prstGeom prst="wedgeRoundRectCallout">
            <a:avLst>
              <a:gd fmla="val 127552" name="adj1"/>
              <a:gd fmla="val 88686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proprietary input data gets translated (aka. mapped).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pic>
        <p:nvPicPr>
          <p:cNvPr id="257" name="Google Shape;2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30"/>
          <p:cNvGrpSpPr/>
          <p:nvPr/>
        </p:nvGrpSpPr>
        <p:grpSpPr>
          <a:xfrm>
            <a:off x="2316074" y="2676425"/>
            <a:ext cx="922500" cy="845725"/>
            <a:chOff x="2316074" y="2676425"/>
            <a:chExt cx="922500" cy="845725"/>
          </a:xfrm>
        </p:grpSpPr>
        <p:pic>
          <p:nvPicPr>
            <p:cNvPr id="260" name="Google Shape;260;p30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30"/>
            <p:cNvSpPr txBox="1"/>
            <p:nvPr/>
          </p:nvSpPr>
          <p:spPr>
            <a:xfrm>
              <a:off x="2316074" y="3229650"/>
              <a:ext cx="922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62" name="Google Shape;262;p30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30"/>
          <p:cNvCxnSpPr>
            <a:stCxn id="262" idx="1"/>
          </p:cNvCxnSpPr>
          <p:nvPr/>
        </p:nvCxnSpPr>
        <p:spPr>
          <a:xfrm flipH="1">
            <a:off x="3214850" y="2442400"/>
            <a:ext cx="2077800" cy="33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4" name="Google Shape;264;p30"/>
          <p:cNvSpPr/>
          <p:nvPr/>
        </p:nvSpPr>
        <p:spPr>
          <a:xfrm>
            <a:off x="4796900" y="2898488"/>
            <a:ext cx="785100" cy="267000"/>
          </a:xfrm>
          <a:prstGeom prst="wedgeRectCallout">
            <a:avLst>
              <a:gd fmla="val 31958" name="adj1"/>
              <a:gd fmla="val -161994" name="adj2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</a:rPr>
              <a:t>CLICK on DOWNLOAD</a:t>
            </a:r>
            <a:endParaRPr sz="700">
              <a:solidFill>
                <a:srgbClr val="666666"/>
              </a:solidFill>
            </a:endParaRPr>
          </a:p>
        </p:txBody>
      </p:sp>
      <p:grpSp>
        <p:nvGrpSpPr>
          <p:cNvPr id="265" name="Google Shape;265;p30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266" name="Google Shape;266;p30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30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68" name="Google Shape;268;p30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9" name="Google Shape;269;p30"/>
          <p:cNvSpPr/>
          <p:nvPr/>
        </p:nvSpPr>
        <p:spPr>
          <a:xfrm>
            <a:off x="1338200" y="3797800"/>
            <a:ext cx="2496900" cy="695400"/>
          </a:xfrm>
          <a:prstGeom prst="wedgeRoundRectCallout">
            <a:avLst>
              <a:gd fmla="val 74855" name="adj1"/>
              <a:gd fmla="val -213410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data get’s exported in the format of the common ontology.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3400" y="1943825"/>
            <a:ext cx="1463276" cy="1463276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Approve</a:t>
            </a:r>
            <a:endParaRPr/>
          </a:p>
        </p:txBody>
      </p:sp>
      <p:grpSp>
        <p:nvGrpSpPr>
          <p:cNvPr id="276" name="Google Shape;276;p31"/>
          <p:cNvGrpSpPr/>
          <p:nvPr/>
        </p:nvGrpSpPr>
        <p:grpSpPr>
          <a:xfrm>
            <a:off x="366272" y="1943818"/>
            <a:ext cx="971854" cy="865103"/>
            <a:chOff x="2316074" y="2676425"/>
            <a:chExt cx="922500" cy="835525"/>
          </a:xfrm>
        </p:grpSpPr>
        <p:pic>
          <p:nvPicPr>
            <p:cNvPr id="277" name="Google Shape;277;p31"/>
            <p:cNvPicPr preferRelativeResize="0"/>
            <p:nvPr/>
          </p:nvPicPr>
          <p:blipFill rotWithShape="1">
            <a:blip r:embed="rId4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p31"/>
            <p:cNvSpPr txBox="1"/>
            <p:nvPr/>
          </p:nvSpPr>
          <p:spPr>
            <a:xfrm>
              <a:off x="2316074" y="3229650"/>
              <a:ext cx="922500" cy="28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grpSp>
        <p:nvGrpSpPr>
          <p:cNvPr id="279" name="Google Shape;279;p31"/>
          <p:cNvGrpSpPr/>
          <p:nvPr/>
        </p:nvGrpSpPr>
        <p:grpSpPr>
          <a:xfrm>
            <a:off x="311697" y="3350126"/>
            <a:ext cx="1211100" cy="844874"/>
            <a:chOff x="5317847" y="4187426"/>
            <a:chExt cx="1211100" cy="844874"/>
          </a:xfrm>
        </p:grpSpPr>
        <p:pic>
          <p:nvPicPr>
            <p:cNvPr id="280" name="Google Shape;280;p31"/>
            <p:cNvPicPr preferRelativeResize="0"/>
            <p:nvPr/>
          </p:nvPicPr>
          <p:blipFill rotWithShape="1">
            <a:blip r:embed="rId4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31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282" name="Google Shape;282;p31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2923150" y="1876550"/>
            <a:ext cx="2496900" cy="695400"/>
          </a:xfrm>
          <a:prstGeom prst="wedgeRoundRectCallout">
            <a:avLst>
              <a:gd fmla="val -126351" name="adj1"/>
              <a:gd fmla="val 114502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But how can the data be </a:t>
            </a:r>
            <a:r>
              <a:rPr lang="en" sz="1200">
                <a:solidFill>
                  <a:srgbClr val="666666"/>
                </a:solidFill>
              </a:rPr>
              <a:t>checked</a:t>
            </a:r>
            <a:r>
              <a:rPr lang="en" sz="1200">
                <a:solidFill>
                  <a:srgbClr val="666666"/>
                </a:solidFill>
              </a:rPr>
              <a:t>?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284" name="Google Shape;284;p31"/>
          <p:cNvSpPr/>
          <p:nvPr/>
        </p:nvSpPr>
        <p:spPr>
          <a:xfrm rot="5400000">
            <a:off x="644550" y="2848175"/>
            <a:ext cx="545400" cy="367200"/>
          </a:xfrm>
          <a:prstGeom prst="leftRightArrow">
            <a:avLst>
              <a:gd fmla="val 46038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 of “Ready for Production”</a:t>
            </a:r>
            <a:endParaRPr/>
          </a:p>
        </p:txBody>
      </p:sp>
      <p:pic>
        <p:nvPicPr>
          <p:cNvPr id="290" name="Google Shape;2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50" y="2683798"/>
            <a:ext cx="7451349" cy="109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 txBox="1"/>
          <p:nvPr/>
        </p:nvSpPr>
        <p:spPr>
          <a:xfrm>
            <a:off x="370925" y="10584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All required fields need to have been approved by an expert.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2" name="Google Shape;292;p32"/>
          <p:cNvSpPr txBox="1"/>
          <p:nvPr/>
        </p:nvSpPr>
        <p:spPr>
          <a:xfrm>
            <a:off x="7224100" y="3046933"/>
            <a:ext cx="68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by Cath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3" name="Google Shape;293;p32"/>
          <p:cNvSpPr txBox="1"/>
          <p:nvPr/>
        </p:nvSpPr>
        <p:spPr>
          <a:xfrm>
            <a:off x="7224100" y="3214285"/>
            <a:ext cx="68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222222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by Cath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4" name="Google Shape;294;p32"/>
          <p:cNvSpPr/>
          <p:nvPr/>
        </p:nvSpPr>
        <p:spPr>
          <a:xfrm>
            <a:off x="7109700" y="3046925"/>
            <a:ext cx="889500" cy="5190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2"/>
          <p:cNvSpPr txBox="1"/>
          <p:nvPr/>
        </p:nvSpPr>
        <p:spPr>
          <a:xfrm>
            <a:off x="6673200" y="3682800"/>
            <a:ext cx="132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hlinkClick r:id="rId4"/>
              </a:rPr>
              <a:t>Ontology definition sheet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96" name="Google Shape;296;p32"/>
          <p:cNvSpPr/>
          <p:nvPr/>
        </p:nvSpPr>
        <p:spPr>
          <a:xfrm>
            <a:off x="5891125" y="4107475"/>
            <a:ext cx="2496900" cy="695400"/>
          </a:xfrm>
          <a:prstGeom prst="wedgeRoundRectCallout">
            <a:avLst>
              <a:gd fmla="val 14672" name="adj1"/>
              <a:gd fmla="val -139682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Leave a comment instead of your name in case the mapping is not as expected.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Cycle</a:t>
            </a:r>
            <a:endParaRPr/>
          </a:p>
        </p:txBody>
      </p:sp>
      <p:pic>
        <p:nvPicPr>
          <p:cNvPr id="302" name="Google Shape;3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7850" y="3060602"/>
            <a:ext cx="3876275" cy="19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0699" y="699225"/>
            <a:ext cx="2995976" cy="1977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33"/>
          <p:cNvGrpSpPr/>
          <p:nvPr/>
        </p:nvGrpSpPr>
        <p:grpSpPr>
          <a:xfrm>
            <a:off x="2316074" y="2676425"/>
            <a:ext cx="922500" cy="845725"/>
            <a:chOff x="2316074" y="2676425"/>
            <a:chExt cx="922500" cy="845725"/>
          </a:xfrm>
        </p:grpSpPr>
        <p:pic>
          <p:nvPicPr>
            <p:cNvPr id="305" name="Google Shape;305;p33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2534350" y="2676425"/>
              <a:ext cx="485950" cy="553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33"/>
            <p:cNvSpPr txBox="1"/>
            <p:nvPr/>
          </p:nvSpPr>
          <p:spPr>
            <a:xfrm>
              <a:off x="2316074" y="3229650"/>
              <a:ext cx="922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Ansto.ontology.xls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307" name="Google Shape;307;p33"/>
          <p:cNvSpPr/>
          <p:nvPr/>
        </p:nvSpPr>
        <p:spPr>
          <a:xfrm>
            <a:off x="5292650" y="2365450"/>
            <a:ext cx="583500" cy="153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8" name="Google Shape;308;p33"/>
          <p:cNvCxnSpPr>
            <a:stCxn id="307" idx="1"/>
          </p:cNvCxnSpPr>
          <p:nvPr/>
        </p:nvCxnSpPr>
        <p:spPr>
          <a:xfrm flipH="1">
            <a:off x="3214850" y="2442400"/>
            <a:ext cx="2077800" cy="33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9" name="Google Shape;309;p33"/>
          <p:cNvSpPr/>
          <p:nvPr/>
        </p:nvSpPr>
        <p:spPr>
          <a:xfrm>
            <a:off x="4796900" y="2898488"/>
            <a:ext cx="785100" cy="267000"/>
          </a:xfrm>
          <a:prstGeom prst="wedgeRectCallout">
            <a:avLst>
              <a:gd fmla="val 31958" name="adj1"/>
              <a:gd fmla="val -161994" name="adj2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</a:rPr>
              <a:t>CLICK on DOWNLOAD</a:t>
            </a:r>
            <a:endParaRPr sz="700">
              <a:solidFill>
                <a:srgbClr val="666666"/>
              </a:solidFill>
            </a:endParaRPr>
          </a:p>
        </p:txBody>
      </p:sp>
      <p:grpSp>
        <p:nvGrpSpPr>
          <p:cNvPr id="310" name="Google Shape;310;p33"/>
          <p:cNvGrpSpPr/>
          <p:nvPr/>
        </p:nvGrpSpPr>
        <p:grpSpPr>
          <a:xfrm>
            <a:off x="5317847" y="4187426"/>
            <a:ext cx="1211100" cy="844874"/>
            <a:chOff x="5317847" y="4187426"/>
            <a:chExt cx="1211100" cy="844874"/>
          </a:xfrm>
        </p:grpSpPr>
        <p:pic>
          <p:nvPicPr>
            <p:cNvPr id="311" name="Google Shape;311;p33"/>
            <p:cNvPicPr preferRelativeResize="0"/>
            <p:nvPr/>
          </p:nvPicPr>
          <p:blipFill rotWithShape="1">
            <a:blip r:embed="rId5">
              <a:alphaModFix/>
            </a:blip>
            <a:srcRect b="17134" l="19783" r="26849" t="6237"/>
            <a:stretch/>
          </p:blipFill>
          <p:spPr>
            <a:xfrm>
              <a:off x="5568175" y="4187426"/>
              <a:ext cx="577100" cy="65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" name="Google Shape;312;p33"/>
            <p:cNvSpPr txBox="1"/>
            <p:nvPr/>
          </p:nvSpPr>
          <p:spPr>
            <a:xfrm>
              <a:off x="5317847" y="4739800"/>
              <a:ext cx="12111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Ansto.proprietary.xls</a:t>
              </a:r>
              <a:endParaRPr sz="700">
                <a:solidFill>
                  <a:schemeClr val="dk2"/>
                </a:solidFill>
              </a:endParaRPr>
            </a:p>
          </p:txBody>
        </p:sp>
      </p:grpSp>
      <p:sp>
        <p:nvSpPr>
          <p:cNvPr id="313" name="Google Shape;313;p33"/>
          <p:cNvSpPr txBox="1"/>
          <p:nvPr/>
        </p:nvSpPr>
        <p:spPr>
          <a:xfrm>
            <a:off x="294725" y="829850"/>
            <a:ext cx="4687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 approve a field mapping the proprietary input data has to be checked against the output data in common ontology format.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14" name="Google Shape;314;p33"/>
          <p:cNvSpPr/>
          <p:nvPr/>
        </p:nvSpPr>
        <p:spPr>
          <a:xfrm>
            <a:off x="1255950" y="1823950"/>
            <a:ext cx="2496900" cy="695400"/>
          </a:xfrm>
          <a:prstGeom prst="wedgeRoundRectCallout">
            <a:avLst>
              <a:gd fmla="val 21561" name="adj1"/>
              <a:gd fmla="val 73663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data get’s exported in the format of the common ontology.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315" name="Google Shape;315;p33"/>
          <p:cNvSpPr/>
          <p:nvPr/>
        </p:nvSpPr>
        <p:spPr>
          <a:xfrm>
            <a:off x="6033150" y="3700625"/>
            <a:ext cx="306600" cy="292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6" name="Google Shape;316;p33"/>
          <p:cNvCxnSpPr>
            <a:stCxn id="315" idx="7"/>
          </p:cNvCxnSpPr>
          <p:nvPr/>
        </p:nvCxnSpPr>
        <p:spPr>
          <a:xfrm flipH="1" rot="10800000">
            <a:off x="6294849" y="3476461"/>
            <a:ext cx="221400" cy="267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7" name="Google Shape;317;p33"/>
          <p:cNvCxnSpPr>
            <a:endCxn id="315" idx="3"/>
          </p:cNvCxnSpPr>
          <p:nvPr/>
        </p:nvCxnSpPr>
        <p:spPr>
          <a:xfrm flipH="1" rot="10800000">
            <a:off x="5923251" y="3950289"/>
            <a:ext cx="154800" cy="24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18" name="Google Shape;318;p33"/>
          <p:cNvCxnSpPr/>
          <p:nvPr/>
        </p:nvCxnSpPr>
        <p:spPr>
          <a:xfrm rot="10800000">
            <a:off x="5876288" y="2442302"/>
            <a:ext cx="929700" cy="61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9" name="Google Shape;319;p33"/>
          <p:cNvSpPr/>
          <p:nvPr/>
        </p:nvSpPr>
        <p:spPr>
          <a:xfrm>
            <a:off x="5502350" y="4194200"/>
            <a:ext cx="842100" cy="7698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3"/>
          <p:cNvSpPr/>
          <p:nvPr/>
        </p:nvSpPr>
        <p:spPr>
          <a:xfrm>
            <a:off x="1528875" y="3610900"/>
            <a:ext cx="2496900" cy="695400"/>
          </a:xfrm>
          <a:prstGeom prst="wedgeRoundRectCallout">
            <a:avLst>
              <a:gd fmla="val 134885" name="adj1"/>
              <a:gd fmla="val -24195" name="adj2"/>
              <a:gd fmla="val 0" name="adj3"/>
            </a:avLst>
          </a:prstGeom>
          <a:solidFill>
            <a:srgbClr val="FFF2CC">
              <a:alpha val="51900"/>
            </a:srgbClr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The proprietary input data gets translated (aka. mapped).</a:t>
            </a:r>
            <a:endParaRPr sz="12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filters</a:t>
            </a:r>
            <a:endParaRPr/>
          </a:p>
        </p:txBody>
      </p:sp>
      <p:pic>
        <p:nvPicPr>
          <p:cNvPr id="326" name="Google Shape;32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00975"/>
            <a:ext cx="8839198" cy="304007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4"/>
          <p:cNvSpPr/>
          <p:nvPr/>
        </p:nvSpPr>
        <p:spPr>
          <a:xfrm>
            <a:off x="988410" y="198802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28" name="Google Shape;328;p34"/>
          <p:cNvSpPr/>
          <p:nvPr/>
        </p:nvSpPr>
        <p:spPr>
          <a:xfrm>
            <a:off x="2837860" y="1988025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29" name="Google Shape;329;p34"/>
          <p:cNvSpPr/>
          <p:nvPr/>
        </p:nvSpPr>
        <p:spPr>
          <a:xfrm>
            <a:off x="3849985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30" name="Google Shape;330;p34"/>
          <p:cNvSpPr/>
          <p:nvPr/>
        </p:nvSpPr>
        <p:spPr>
          <a:xfrm>
            <a:off x="5011660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31" name="Google Shape;331;p34"/>
          <p:cNvSpPr/>
          <p:nvPr/>
        </p:nvSpPr>
        <p:spPr>
          <a:xfrm>
            <a:off x="7840460" y="202785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</p:spPr>
      </p:sp>
      <p:sp>
        <p:nvSpPr>
          <p:cNvPr id="332" name="Google Shape;332;p34"/>
          <p:cNvSpPr txBox="1"/>
          <p:nvPr/>
        </p:nvSpPr>
        <p:spPr>
          <a:xfrm>
            <a:off x="6449774" y="1628475"/>
            <a:ext cx="4710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0000"/>
                </a:solidFill>
              </a:rPr>
              <a:t>!</a:t>
            </a:r>
            <a:endParaRPr sz="7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 txBox="1"/>
          <p:nvPr/>
        </p:nvSpPr>
        <p:spPr>
          <a:xfrm>
            <a:off x="311700" y="-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</a:rPr>
              <a:t>UI as specified by CSIRO (</a:t>
            </a:r>
            <a:r>
              <a:rPr lang="en" sz="28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2024-09-16</a:t>
            </a:r>
            <a:r>
              <a:rPr lang="en" sz="2800">
                <a:solidFill>
                  <a:srgbClr val="000000"/>
                </a:solidFill>
              </a:rPr>
              <a:t>)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338" name="Google Shape;33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575" y="659493"/>
            <a:ext cx="6244050" cy="427817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5"/>
          <p:cNvSpPr txBox="1"/>
          <p:nvPr/>
        </p:nvSpPr>
        <p:spPr>
          <a:xfrm>
            <a:off x="5412625" y="4829400"/>
            <a:ext cx="19812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See 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concept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Goal of Today’s Meeting:</a:t>
            </a:r>
            <a:endParaRPr/>
          </a:p>
        </p:txBody>
      </p:sp>
      <p:sp>
        <p:nvSpPr>
          <p:cNvPr id="345" name="Google Shape;345;p36"/>
          <p:cNvSpPr txBox="1"/>
          <p:nvPr>
            <p:ph idx="1" type="body"/>
          </p:nvPr>
        </p:nvSpPr>
        <p:spPr>
          <a:xfrm>
            <a:off x="311700" y="1713150"/>
            <a:ext cx="8520600" cy="22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Understanding the </a:t>
            </a:r>
            <a:r>
              <a:rPr b="1" lang="en" sz="2800"/>
              <a:t>Adapter</a:t>
            </a:r>
            <a:r>
              <a:rPr lang="en" sz="2800"/>
              <a:t> Development Process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The adapters need to implement a lot of expert knowledge. Next slides will show with a concrete example how the knowledge can be transferred from the experts to the developers.</a:t>
            </a:r>
            <a:endParaRPr sz="1700"/>
          </a:p>
        </p:txBody>
      </p:sp>
      <p:sp>
        <p:nvSpPr>
          <p:cNvPr id="346" name="Google Shape;346;p36"/>
          <p:cNvSpPr/>
          <p:nvPr/>
        </p:nvSpPr>
        <p:spPr>
          <a:xfrm>
            <a:off x="231750" y="1712000"/>
            <a:ext cx="7685400" cy="572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352" name="Google Shape;3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3" name="Google Shape;353;p37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54" name="Google Shape;3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37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356" name="Google Shape;356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7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358" name="Google Shape;358;p37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8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" name="Google Shape;365;p38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66" name="Google Shape;36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38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368" name="Google Shape;368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19325" y="140225"/>
            <a:ext cx="2054227" cy="1011074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8"/>
          <p:cNvSpPr/>
          <p:nvPr/>
        </p:nvSpPr>
        <p:spPr>
          <a:xfrm>
            <a:off x="3180229" y="332292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370" name="Google Shape;370;p38"/>
          <p:cNvSpPr/>
          <p:nvPr/>
        </p:nvSpPr>
        <p:spPr>
          <a:xfrm>
            <a:off x="50959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371" name="Google Shape;371;p38"/>
          <p:cNvSpPr/>
          <p:nvPr/>
        </p:nvSpPr>
        <p:spPr>
          <a:xfrm>
            <a:off x="5742879" y="324017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377" name="Google Shape;37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8" name="Google Shape;378;p39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379" name="Google Shape;37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39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5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381" name="Google Shape;381;p39"/>
          <p:cNvSpPr txBox="1"/>
          <p:nvPr/>
        </p:nvSpPr>
        <p:spPr>
          <a:xfrm>
            <a:off x="7027450" y="2070850"/>
            <a:ext cx="107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2" name="Google Shape;382;p39"/>
          <p:cNvSpPr txBox="1"/>
          <p:nvPr/>
        </p:nvSpPr>
        <p:spPr>
          <a:xfrm>
            <a:off x="6511600" y="2375650"/>
            <a:ext cx="121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Technicals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383" name="Google Shape;383;p39"/>
          <p:cNvSpPr txBox="1"/>
          <p:nvPr/>
        </p:nvSpPr>
        <p:spPr>
          <a:xfrm>
            <a:off x="7838275" y="2383300"/>
            <a:ext cx="1211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Mappings</a:t>
            </a:r>
            <a:endParaRPr sz="1700">
              <a:solidFill>
                <a:schemeClr val="dk2"/>
              </a:solidFill>
            </a:endParaRPr>
          </a:p>
        </p:txBody>
      </p:sp>
      <p:cxnSp>
        <p:nvCxnSpPr>
          <p:cNvPr id="384" name="Google Shape;384;p39"/>
          <p:cNvCxnSpPr/>
          <p:nvPr/>
        </p:nvCxnSpPr>
        <p:spPr>
          <a:xfrm>
            <a:off x="7767575" y="2242800"/>
            <a:ext cx="0" cy="156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9"/>
          <p:cNvCxnSpPr>
            <a:endCxn id="382" idx="0"/>
          </p:cNvCxnSpPr>
          <p:nvPr/>
        </p:nvCxnSpPr>
        <p:spPr>
          <a:xfrm flipH="1">
            <a:off x="7117150" y="1367950"/>
            <a:ext cx="732600" cy="100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6" name="Google Shape;386;p39"/>
          <p:cNvCxnSpPr>
            <a:stCxn id="380" idx="1"/>
            <a:endCxn id="383" idx="0"/>
          </p:cNvCxnSpPr>
          <p:nvPr/>
        </p:nvCxnSpPr>
        <p:spPr>
          <a:xfrm>
            <a:off x="8081574" y="1411125"/>
            <a:ext cx="362400" cy="97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7" name="Google Shape;387;p39"/>
          <p:cNvSpPr/>
          <p:nvPr/>
        </p:nvSpPr>
        <p:spPr>
          <a:xfrm>
            <a:off x="8100935" y="2971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388" name="Google Shape;388;p39"/>
          <p:cNvSpPr/>
          <p:nvPr/>
        </p:nvSpPr>
        <p:spPr>
          <a:xfrm>
            <a:off x="6812260" y="2971700"/>
            <a:ext cx="685783" cy="535104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00FF00"/>
          </a:solid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394" name="Google Shape;39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40"/>
          <p:cNvCxnSpPr/>
          <p:nvPr/>
        </p:nvCxnSpPr>
        <p:spPr>
          <a:xfrm flipH="1" rot="10800000">
            <a:off x="6444325" y="822100"/>
            <a:ext cx="1488000" cy="643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396" name="Google Shape;396;p40"/>
          <p:cNvGrpSpPr/>
          <p:nvPr/>
        </p:nvGrpSpPr>
        <p:grpSpPr>
          <a:xfrm>
            <a:off x="5485350" y="712920"/>
            <a:ext cx="912360" cy="1404725"/>
            <a:chOff x="7354350" y="2318745"/>
            <a:chExt cx="912360" cy="1404725"/>
          </a:xfrm>
        </p:grpSpPr>
        <p:pic>
          <p:nvPicPr>
            <p:cNvPr id="397" name="Google Shape;39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40"/>
            <p:cNvSpPr txBox="1"/>
            <p:nvPr/>
          </p:nvSpPr>
          <p:spPr>
            <a:xfrm>
              <a:off x="7362210" y="326177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Coder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399" name="Google Shape;399;p40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400" name="Google Shape;400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40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6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402" name="Google Shape;402;p40"/>
          <p:cNvSpPr txBox="1"/>
          <p:nvPr/>
        </p:nvSpPr>
        <p:spPr>
          <a:xfrm rot="-1273193">
            <a:off x="6518178" y="906160"/>
            <a:ext cx="784919" cy="415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  <p:cxnSp>
        <p:nvCxnSpPr>
          <p:cNvPr id="403" name="Google Shape;403;p40"/>
          <p:cNvCxnSpPr>
            <a:stCxn id="398" idx="1"/>
          </p:cNvCxnSpPr>
          <p:nvPr/>
        </p:nvCxnSpPr>
        <p:spPr>
          <a:xfrm flipH="1">
            <a:off x="4792110" y="1886795"/>
            <a:ext cx="701100" cy="849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4" name="Google Shape;404;p40"/>
          <p:cNvSpPr txBox="1"/>
          <p:nvPr/>
        </p:nvSpPr>
        <p:spPr>
          <a:xfrm rot="-3030608">
            <a:off x="4430085" y="1875586"/>
            <a:ext cx="1345406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implements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05" name="Google Shape;405;p40"/>
          <p:cNvSpPr/>
          <p:nvPr/>
        </p:nvSpPr>
        <p:spPr>
          <a:xfrm>
            <a:off x="5906025" y="2200750"/>
            <a:ext cx="1375500" cy="572700"/>
          </a:xfrm>
          <a:prstGeom prst="wedgeRoundRectCallout">
            <a:avLst>
              <a:gd fmla="val -109784" name="adj1"/>
              <a:gd fmla="val 53942" name="adj2"/>
              <a:gd fmla="val 0" name="adj3"/>
            </a:avLst>
          </a:prstGeom>
          <a:solidFill>
            <a:srgbClr val="FCFF8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</a:rPr>
              <a:t>Coder releases version when finished.</a:t>
            </a:r>
            <a:endParaRPr sz="1200">
              <a:solidFill>
                <a:srgbClr val="666666"/>
              </a:solidFill>
            </a:endParaRPr>
          </a:p>
        </p:txBody>
      </p:sp>
      <p:sp>
        <p:nvSpPr>
          <p:cNvPr id="406" name="Google Shape;406;p40"/>
          <p:cNvSpPr/>
          <p:nvPr/>
        </p:nvSpPr>
        <p:spPr>
          <a:xfrm>
            <a:off x="31293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407" name="Google Shape;407;p40"/>
          <p:cNvSpPr/>
          <p:nvPr/>
        </p:nvSpPr>
        <p:spPr>
          <a:xfrm>
            <a:off x="5095904" y="3272002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  <p:sp>
        <p:nvSpPr>
          <p:cNvPr id="408" name="Google Shape;408;p40"/>
          <p:cNvSpPr/>
          <p:nvPr/>
        </p:nvSpPr>
        <p:spPr>
          <a:xfrm>
            <a:off x="5742879" y="3240177"/>
            <a:ext cx="397300" cy="304817"/>
          </a:xfrm>
          <a:custGeom>
            <a:rect b="b" l="l" r="r" t="t"/>
            <a:pathLst>
              <a:path extrusionOk="0" h="7139" w="8669">
                <a:moveTo>
                  <a:pt x="0" y="2756"/>
                </a:moveTo>
                <a:lnTo>
                  <a:pt x="3060" y="7139"/>
                </a:lnTo>
                <a:lnTo>
                  <a:pt x="8669" y="0"/>
                </a:lnTo>
                <a:lnTo>
                  <a:pt x="2805" y="5164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1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16" name="Google Shape;416;p41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7" name="Google Shape;417;p41"/>
          <p:cNvGrpSpPr/>
          <p:nvPr/>
        </p:nvGrpSpPr>
        <p:grpSpPr>
          <a:xfrm>
            <a:off x="6227625" y="856688"/>
            <a:ext cx="904600" cy="1678113"/>
            <a:chOff x="6982600" y="177738"/>
            <a:chExt cx="904600" cy="1678113"/>
          </a:xfrm>
        </p:grpSpPr>
        <p:pic>
          <p:nvPicPr>
            <p:cNvPr id="418" name="Google Shape;418;p41"/>
            <p:cNvPicPr preferRelativeResize="0"/>
            <p:nvPr/>
          </p:nvPicPr>
          <p:blipFill rotWithShape="1">
            <a:blip r:embed="rId5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9" name="Google Shape;419;p41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20" name="Google Shape;420;p41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421" name="Google Shape;421;p4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" name="Google Shape;422;p41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7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cxnSp>
        <p:nvCxnSpPr>
          <p:cNvPr id="423" name="Google Shape;423;p41"/>
          <p:cNvCxnSpPr/>
          <p:nvPr/>
        </p:nvCxnSpPr>
        <p:spPr>
          <a:xfrm flipH="1" rot="10800000">
            <a:off x="7281650" y="979275"/>
            <a:ext cx="732600" cy="396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4" name="Google Shape;424;p41"/>
          <p:cNvSpPr txBox="1"/>
          <p:nvPr/>
        </p:nvSpPr>
        <p:spPr>
          <a:xfrm rot="-1790031">
            <a:off x="7060911" y="853951"/>
            <a:ext cx="910577" cy="415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updates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25" name="Google Shape;425;p41"/>
          <p:cNvSpPr/>
          <p:nvPr/>
        </p:nvSpPr>
        <p:spPr>
          <a:xfrm>
            <a:off x="3640825" y="8621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426" name="Google Shape;426;p41"/>
          <p:cNvSpPr txBox="1"/>
          <p:nvPr/>
        </p:nvSpPr>
        <p:spPr>
          <a:xfrm rot="1431975">
            <a:off x="4610806" y="11198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4100" y="3519575"/>
            <a:ext cx="396300" cy="3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46525" y="35490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2"/>
          <p:cNvSpPr txBox="1"/>
          <p:nvPr/>
        </p:nvSpPr>
        <p:spPr>
          <a:xfrm>
            <a:off x="2613275" y="856700"/>
            <a:ext cx="96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35" name="Google Shape;435;p42"/>
          <p:cNvSpPr/>
          <p:nvPr/>
        </p:nvSpPr>
        <p:spPr>
          <a:xfrm>
            <a:off x="2796025" y="1285875"/>
            <a:ext cx="486000" cy="4485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6" name="Google Shape;436;p42"/>
          <p:cNvGrpSpPr/>
          <p:nvPr/>
        </p:nvGrpSpPr>
        <p:grpSpPr>
          <a:xfrm>
            <a:off x="6227625" y="856688"/>
            <a:ext cx="904600" cy="1678113"/>
            <a:chOff x="6982600" y="177738"/>
            <a:chExt cx="904600" cy="1678113"/>
          </a:xfrm>
        </p:grpSpPr>
        <p:pic>
          <p:nvPicPr>
            <p:cNvPr id="437" name="Google Shape;437;p42"/>
            <p:cNvPicPr preferRelativeResize="0"/>
            <p:nvPr/>
          </p:nvPicPr>
          <p:blipFill rotWithShape="1">
            <a:blip r:embed="rId6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42"/>
            <p:cNvSpPr txBox="1"/>
            <p:nvPr/>
          </p:nvSpPr>
          <p:spPr>
            <a:xfrm>
              <a:off x="6982650" y="139415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Expert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39" name="Google Shape;439;p42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440" name="Google Shape;440;p4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" name="Google Shape;441;p42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8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cxnSp>
        <p:nvCxnSpPr>
          <p:cNvPr id="442" name="Google Shape;442;p42"/>
          <p:cNvCxnSpPr/>
          <p:nvPr/>
        </p:nvCxnSpPr>
        <p:spPr>
          <a:xfrm flipH="1" rot="10800000">
            <a:off x="7281650" y="979275"/>
            <a:ext cx="732600" cy="396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3" name="Google Shape;443;p42"/>
          <p:cNvSpPr txBox="1"/>
          <p:nvPr/>
        </p:nvSpPr>
        <p:spPr>
          <a:xfrm rot="-1790031">
            <a:off x="7060911" y="853951"/>
            <a:ext cx="910577" cy="4156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updates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44" name="Google Shape;444;p42"/>
          <p:cNvSpPr/>
          <p:nvPr/>
        </p:nvSpPr>
        <p:spPr>
          <a:xfrm>
            <a:off x="3640825" y="862175"/>
            <a:ext cx="2586714" cy="2995425"/>
          </a:xfrm>
          <a:custGeom>
            <a:rect b="b" l="l" r="r" t="t"/>
            <a:pathLst>
              <a:path extrusionOk="0" h="119817" w="105742">
                <a:moveTo>
                  <a:pt x="0" y="1697"/>
                </a:moveTo>
                <a:cubicBezTo>
                  <a:pt x="10118" y="1847"/>
                  <a:pt x="44956" y="-2739"/>
                  <a:pt x="60705" y="2594"/>
                </a:cubicBezTo>
                <a:cubicBezTo>
                  <a:pt x="76455" y="7927"/>
                  <a:pt x="87071" y="20038"/>
                  <a:pt x="94497" y="33694"/>
                </a:cubicBezTo>
                <a:cubicBezTo>
                  <a:pt x="101923" y="47350"/>
                  <a:pt x="107355" y="70177"/>
                  <a:pt x="105262" y="84531"/>
                </a:cubicBezTo>
                <a:cubicBezTo>
                  <a:pt x="103169" y="98885"/>
                  <a:pt x="85825" y="113937"/>
                  <a:pt x="81937" y="119818"/>
                </a:cubicBezTo>
              </a:path>
            </a:pathLst>
          </a:cu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stealth"/>
            <a:tailEnd len="med" w="med" type="stealth"/>
          </a:ln>
        </p:spPr>
      </p:sp>
      <p:sp>
        <p:nvSpPr>
          <p:cNvPr id="445" name="Google Shape;445;p42"/>
          <p:cNvSpPr txBox="1"/>
          <p:nvPr/>
        </p:nvSpPr>
        <p:spPr>
          <a:xfrm rot="1431975">
            <a:off x="4610806" y="1119829"/>
            <a:ext cx="1342056" cy="415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compares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446" name="Google Shape;446;p42"/>
          <p:cNvGrpSpPr/>
          <p:nvPr/>
        </p:nvGrpSpPr>
        <p:grpSpPr>
          <a:xfrm>
            <a:off x="8134064" y="3992525"/>
            <a:ext cx="1000125" cy="1150983"/>
            <a:chOff x="8046814" y="3457225"/>
            <a:chExt cx="1000125" cy="1150983"/>
          </a:xfrm>
        </p:grpSpPr>
        <p:pic>
          <p:nvPicPr>
            <p:cNvPr id="447" name="Google Shape;447;p4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046814" y="3457225"/>
              <a:ext cx="1000125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42"/>
            <p:cNvSpPr txBox="1"/>
            <p:nvPr/>
          </p:nvSpPr>
          <p:spPr>
            <a:xfrm>
              <a:off x="8132675" y="3961708"/>
              <a:ext cx="90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Bug-</a:t>
              </a:r>
              <a:endParaRPr sz="15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tracker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cxnSp>
        <p:nvCxnSpPr>
          <p:cNvPr id="449" name="Google Shape;449;p42"/>
          <p:cNvCxnSpPr/>
          <p:nvPr/>
        </p:nvCxnSpPr>
        <p:spPr>
          <a:xfrm>
            <a:off x="7236775" y="2594175"/>
            <a:ext cx="897300" cy="9570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0" name="Google Shape;450;p42"/>
          <p:cNvSpPr txBox="1"/>
          <p:nvPr/>
        </p:nvSpPr>
        <p:spPr>
          <a:xfrm rot="2700000">
            <a:off x="7256190" y="2735209"/>
            <a:ext cx="910471" cy="64657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reports issue</a:t>
            </a:r>
            <a:endParaRPr sz="1500">
              <a:solidFill>
                <a:schemeClr val="accent4"/>
              </a:solidFill>
            </a:endParaRPr>
          </a:p>
        </p:txBody>
      </p:sp>
      <p:sp>
        <p:nvSpPr>
          <p:cNvPr id="451" name="Google Shape;451;p42"/>
          <p:cNvSpPr txBox="1"/>
          <p:nvPr/>
        </p:nvSpPr>
        <p:spPr>
          <a:xfrm>
            <a:off x="8014250" y="3739775"/>
            <a:ext cx="91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Lian F.</a:t>
            </a:r>
            <a:endParaRPr sz="1000">
              <a:solidFill>
                <a:schemeClr val="dk2"/>
              </a:solidFill>
            </a:endParaRPr>
          </a:p>
        </p:txBody>
      </p:sp>
      <p:cxnSp>
        <p:nvCxnSpPr>
          <p:cNvPr id="452" name="Google Shape;452;p42"/>
          <p:cNvCxnSpPr/>
          <p:nvPr/>
        </p:nvCxnSpPr>
        <p:spPr>
          <a:xfrm>
            <a:off x="8305850" y="3984725"/>
            <a:ext cx="14700" cy="186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pic>
        <p:nvPicPr>
          <p:cNvPr id="458" name="Google Shape;45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2775"/>
            <a:ext cx="5508800" cy="275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9" name="Google Shape;459;p43"/>
          <p:cNvCxnSpPr/>
          <p:nvPr/>
        </p:nvCxnSpPr>
        <p:spPr>
          <a:xfrm flipH="1" rot="10800000">
            <a:off x="6444325" y="822100"/>
            <a:ext cx="1488000" cy="643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460" name="Google Shape;460;p43"/>
          <p:cNvGrpSpPr/>
          <p:nvPr/>
        </p:nvGrpSpPr>
        <p:grpSpPr>
          <a:xfrm>
            <a:off x="5485350" y="712920"/>
            <a:ext cx="912360" cy="1404725"/>
            <a:chOff x="7354350" y="2318745"/>
            <a:chExt cx="912360" cy="1404725"/>
          </a:xfrm>
        </p:grpSpPr>
        <p:pic>
          <p:nvPicPr>
            <p:cNvPr id="461" name="Google Shape;46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54350" y="2318745"/>
              <a:ext cx="904600" cy="10518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2" name="Google Shape;462;p43"/>
            <p:cNvSpPr txBox="1"/>
            <p:nvPr/>
          </p:nvSpPr>
          <p:spPr>
            <a:xfrm>
              <a:off x="7362210" y="3261770"/>
              <a:ext cx="904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Coder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63" name="Google Shape;463;p43"/>
          <p:cNvGrpSpPr/>
          <p:nvPr/>
        </p:nvGrpSpPr>
        <p:grpSpPr>
          <a:xfrm>
            <a:off x="8044400" y="104775"/>
            <a:ext cx="1004974" cy="1644900"/>
            <a:chOff x="8044400" y="104775"/>
            <a:chExt cx="1004974" cy="1644900"/>
          </a:xfrm>
        </p:grpSpPr>
        <p:pic>
          <p:nvPicPr>
            <p:cNvPr id="464" name="Google Shape;464;p4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43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6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sp>
        <p:nvSpPr>
          <p:cNvPr id="466" name="Google Shape;466;p43"/>
          <p:cNvSpPr txBox="1"/>
          <p:nvPr/>
        </p:nvSpPr>
        <p:spPr>
          <a:xfrm rot="-1273193">
            <a:off x="6518178" y="906160"/>
            <a:ext cx="784919" cy="4157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  <p:cxnSp>
        <p:nvCxnSpPr>
          <p:cNvPr id="467" name="Google Shape;467;p43"/>
          <p:cNvCxnSpPr>
            <a:stCxn id="462" idx="1"/>
          </p:cNvCxnSpPr>
          <p:nvPr/>
        </p:nvCxnSpPr>
        <p:spPr>
          <a:xfrm flipH="1">
            <a:off x="4792110" y="1886795"/>
            <a:ext cx="701100" cy="8493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8" name="Google Shape;468;p43"/>
          <p:cNvSpPr txBox="1"/>
          <p:nvPr/>
        </p:nvSpPr>
        <p:spPr>
          <a:xfrm rot="-3030608">
            <a:off x="4430085" y="1875586"/>
            <a:ext cx="1345406" cy="415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implements</a:t>
            </a:r>
            <a:endParaRPr sz="1500">
              <a:solidFill>
                <a:schemeClr val="accent4"/>
              </a:solidFill>
            </a:endParaRPr>
          </a:p>
        </p:txBody>
      </p:sp>
      <p:grpSp>
        <p:nvGrpSpPr>
          <p:cNvPr id="469" name="Google Shape;469;p43"/>
          <p:cNvGrpSpPr/>
          <p:nvPr/>
        </p:nvGrpSpPr>
        <p:grpSpPr>
          <a:xfrm>
            <a:off x="8134064" y="3992525"/>
            <a:ext cx="1000125" cy="1150983"/>
            <a:chOff x="8046814" y="3457225"/>
            <a:chExt cx="1000125" cy="1150983"/>
          </a:xfrm>
        </p:grpSpPr>
        <p:pic>
          <p:nvPicPr>
            <p:cNvPr id="470" name="Google Shape;470;p4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046814" y="3457225"/>
              <a:ext cx="1000125" cy="62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43"/>
            <p:cNvSpPr txBox="1"/>
            <p:nvPr/>
          </p:nvSpPr>
          <p:spPr>
            <a:xfrm>
              <a:off x="8132675" y="3961708"/>
              <a:ext cx="9045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Bug-</a:t>
              </a:r>
              <a:endParaRPr sz="1500">
                <a:solidFill>
                  <a:schemeClr val="dk2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</a:rPr>
                <a:t>tracker</a:t>
              </a:r>
              <a:endParaRPr sz="1500">
                <a:solidFill>
                  <a:schemeClr val="dk2"/>
                </a:solidFill>
              </a:endParaRPr>
            </a:p>
          </p:txBody>
        </p:sp>
      </p:grpSp>
      <p:cxnSp>
        <p:nvCxnSpPr>
          <p:cNvPr id="472" name="Google Shape;472;p43"/>
          <p:cNvCxnSpPr/>
          <p:nvPr/>
        </p:nvCxnSpPr>
        <p:spPr>
          <a:xfrm>
            <a:off x="6384525" y="2108225"/>
            <a:ext cx="1644600" cy="20559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73" name="Google Shape;473;p43"/>
          <p:cNvSpPr txBox="1"/>
          <p:nvPr/>
        </p:nvSpPr>
        <p:spPr>
          <a:xfrm rot="3014526">
            <a:off x="6814430" y="2695812"/>
            <a:ext cx="784777" cy="4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4"/>
                </a:solidFill>
              </a:rPr>
              <a:t>reads</a:t>
            </a:r>
            <a:endParaRPr sz="15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4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Exercise an Expert Feedback Round</a:t>
            </a:r>
            <a:endParaRPr/>
          </a:p>
        </p:txBody>
      </p:sp>
      <p:grpSp>
        <p:nvGrpSpPr>
          <p:cNvPr id="479" name="Google Shape;479;p44"/>
          <p:cNvGrpSpPr/>
          <p:nvPr/>
        </p:nvGrpSpPr>
        <p:grpSpPr>
          <a:xfrm>
            <a:off x="5919750" y="3144125"/>
            <a:ext cx="1004974" cy="1644900"/>
            <a:chOff x="8044400" y="104775"/>
            <a:chExt cx="1004974" cy="1644900"/>
          </a:xfrm>
        </p:grpSpPr>
        <p:pic>
          <p:nvPicPr>
            <p:cNvPr id="480" name="Google Shape;48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1" name="Google Shape;481;p44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4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482" name="Google Shape;48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575" y="311855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4"/>
          <p:cNvSpPr txBox="1"/>
          <p:nvPr/>
        </p:nvSpPr>
        <p:spPr>
          <a:xfrm>
            <a:off x="482375" y="3674425"/>
            <a:ext cx="9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output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484" name="Google Shape;484;p44"/>
          <p:cNvSpPr txBox="1"/>
          <p:nvPr/>
        </p:nvSpPr>
        <p:spPr>
          <a:xfrm>
            <a:off x="2068875" y="833900"/>
            <a:ext cx="36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What the expert needs: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85" name="Google Shape;485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725" y="3457475"/>
            <a:ext cx="1567666" cy="15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400" y="3558425"/>
            <a:ext cx="910550" cy="72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7" name="Google Shape;487;p44"/>
          <p:cNvGrpSpPr/>
          <p:nvPr/>
        </p:nvGrpSpPr>
        <p:grpSpPr>
          <a:xfrm>
            <a:off x="3401189" y="1449997"/>
            <a:ext cx="910570" cy="1335506"/>
            <a:chOff x="6982600" y="177738"/>
            <a:chExt cx="904600" cy="1655313"/>
          </a:xfrm>
        </p:grpSpPr>
        <p:pic>
          <p:nvPicPr>
            <p:cNvPr id="488" name="Google Shape;488;p44"/>
            <p:cNvPicPr preferRelativeResize="0"/>
            <p:nvPr/>
          </p:nvPicPr>
          <p:blipFill rotWithShape="1">
            <a:blip r:embed="rId7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44"/>
            <p:cNvSpPr txBox="1"/>
            <p:nvPr/>
          </p:nvSpPr>
          <p:spPr>
            <a:xfrm>
              <a:off x="6982650" y="1394150"/>
              <a:ext cx="9045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Expert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cxnSp>
        <p:nvCxnSpPr>
          <p:cNvPr id="490" name="Google Shape;490;p44"/>
          <p:cNvCxnSpPr/>
          <p:nvPr/>
        </p:nvCxnSpPr>
        <p:spPr>
          <a:xfrm flipH="1" rot="10800000">
            <a:off x="1394100" y="2304425"/>
            <a:ext cx="1642500" cy="7002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1" name="Google Shape;491;p44"/>
          <p:cNvCxnSpPr/>
          <p:nvPr/>
        </p:nvCxnSpPr>
        <p:spPr>
          <a:xfrm flipH="1" rot="10800000">
            <a:off x="3615725" y="2821775"/>
            <a:ext cx="95700" cy="545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2" name="Google Shape;492;p44"/>
          <p:cNvCxnSpPr/>
          <p:nvPr/>
        </p:nvCxnSpPr>
        <p:spPr>
          <a:xfrm rot="10800000">
            <a:off x="4513300" y="2648100"/>
            <a:ext cx="1374900" cy="6939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5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Exercise an Expert Feedback Round</a:t>
            </a:r>
            <a:endParaRPr/>
          </a:p>
        </p:txBody>
      </p:sp>
      <p:grpSp>
        <p:nvGrpSpPr>
          <p:cNvPr id="498" name="Google Shape;498;p45"/>
          <p:cNvGrpSpPr/>
          <p:nvPr/>
        </p:nvGrpSpPr>
        <p:grpSpPr>
          <a:xfrm>
            <a:off x="5919750" y="3144125"/>
            <a:ext cx="1004974" cy="1644900"/>
            <a:chOff x="8044400" y="104775"/>
            <a:chExt cx="1004974" cy="1644900"/>
          </a:xfrm>
        </p:grpSpPr>
        <p:pic>
          <p:nvPicPr>
            <p:cNvPr id="499" name="Google Shape;49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44400" y="104775"/>
              <a:ext cx="967800" cy="96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0" name="Google Shape;500;p45"/>
            <p:cNvSpPr txBox="1"/>
            <p:nvPr/>
          </p:nvSpPr>
          <p:spPr>
            <a:xfrm>
              <a:off x="8081574" y="1072575"/>
              <a:ext cx="9678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u="sng">
                  <a:solidFill>
                    <a:schemeClr val="hlink"/>
                  </a:solidFill>
                  <a:hlinkClick r:id="rId4"/>
                </a:rPr>
                <a:t>Speci- fication</a:t>
              </a:r>
              <a:endParaRPr sz="1600">
                <a:solidFill>
                  <a:schemeClr val="dk2"/>
                </a:solidFill>
              </a:endParaRPr>
            </a:p>
          </p:txBody>
        </p:sp>
      </p:grpSp>
      <p:pic>
        <p:nvPicPr>
          <p:cNvPr id="501" name="Google Shape;50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8575" y="3118550"/>
            <a:ext cx="764900" cy="6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5"/>
          <p:cNvSpPr txBox="1"/>
          <p:nvPr/>
        </p:nvSpPr>
        <p:spPr>
          <a:xfrm>
            <a:off x="482375" y="3674425"/>
            <a:ext cx="967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isotopes.au ontology</a:t>
            </a:r>
            <a:endParaRPr sz="1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output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503" name="Google Shape;503;p45"/>
          <p:cNvSpPr txBox="1"/>
          <p:nvPr/>
        </p:nvSpPr>
        <p:spPr>
          <a:xfrm>
            <a:off x="2145075" y="681500"/>
            <a:ext cx="36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How to update the spec</a:t>
            </a:r>
            <a:r>
              <a:rPr lang="en" sz="1800">
                <a:solidFill>
                  <a:schemeClr val="dk2"/>
                </a:solidFill>
              </a:rPr>
              <a:t>: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04" name="Google Shape;504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8725" y="3457475"/>
            <a:ext cx="1567666" cy="15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5400" y="3558425"/>
            <a:ext cx="910550" cy="721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6" name="Google Shape;506;p45"/>
          <p:cNvGrpSpPr/>
          <p:nvPr/>
        </p:nvGrpSpPr>
        <p:grpSpPr>
          <a:xfrm>
            <a:off x="6409334" y="766838"/>
            <a:ext cx="1337781" cy="1083336"/>
            <a:chOff x="5658150" y="1181725"/>
            <a:chExt cx="919500" cy="673800"/>
          </a:xfrm>
        </p:grpSpPr>
        <p:pic>
          <p:nvPicPr>
            <p:cNvPr id="507" name="Google Shape;507;p4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919750" y="1181725"/>
              <a:ext cx="396300" cy="39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" name="Google Shape;508;p45"/>
            <p:cNvSpPr txBox="1"/>
            <p:nvPr/>
          </p:nvSpPr>
          <p:spPr>
            <a:xfrm>
              <a:off x="5658150" y="1578025"/>
              <a:ext cx="919500" cy="27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2"/>
                  </a:solidFill>
                </a:rPr>
                <a:t>Lian</a:t>
              </a:r>
              <a:endParaRPr sz="1700">
                <a:solidFill>
                  <a:schemeClr val="dk2"/>
                </a:solidFill>
              </a:endParaRPr>
            </a:p>
          </p:txBody>
        </p:sp>
      </p:grpSp>
      <p:grpSp>
        <p:nvGrpSpPr>
          <p:cNvPr id="509" name="Google Shape;509;p45"/>
          <p:cNvGrpSpPr/>
          <p:nvPr/>
        </p:nvGrpSpPr>
        <p:grpSpPr>
          <a:xfrm>
            <a:off x="3401189" y="1449997"/>
            <a:ext cx="910570" cy="1335506"/>
            <a:chOff x="6982600" y="177738"/>
            <a:chExt cx="904600" cy="1655313"/>
          </a:xfrm>
        </p:grpSpPr>
        <p:pic>
          <p:nvPicPr>
            <p:cNvPr id="510" name="Google Shape;510;p45"/>
            <p:cNvPicPr preferRelativeResize="0"/>
            <p:nvPr/>
          </p:nvPicPr>
          <p:blipFill rotWithShape="1">
            <a:blip r:embed="rId8">
              <a:alphaModFix/>
            </a:blip>
            <a:srcRect b="0" l="21281" r="20187" t="16058"/>
            <a:stretch/>
          </p:blipFill>
          <p:spPr>
            <a:xfrm>
              <a:off x="6982600" y="177737"/>
              <a:ext cx="904600" cy="1297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45"/>
            <p:cNvSpPr txBox="1"/>
            <p:nvPr/>
          </p:nvSpPr>
          <p:spPr>
            <a:xfrm>
              <a:off x="6982650" y="1394150"/>
              <a:ext cx="9045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2"/>
                  </a:solidFill>
                </a:rPr>
                <a:t>Expert</a:t>
              </a:r>
              <a:endParaRPr sz="1100">
                <a:solidFill>
                  <a:schemeClr val="dk2"/>
                </a:solidFill>
              </a:endParaRPr>
            </a:p>
          </p:txBody>
        </p:sp>
      </p:grpSp>
      <p:cxnSp>
        <p:nvCxnSpPr>
          <p:cNvPr id="512" name="Google Shape;512;p45"/>
          <p:cNvCxnSpPr/>
          <p:nvPr/>
        </p:nvCxnSpPr>
        <p:spPr>
          <a:xfrm>
            <a:off x="4419459" y="2571751"/>
            <a:ext cx="1500300" cy="8100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3" name="Google Shape;513;p45"/>
          <p:cNvCxnSpPr/>
          <p:nvPr/>
        </p:nvCxnSpPr>
        <p:spPr>
          <a:xfrm flipH="1" rot="10800000">
            <a:off x="4513300" y="1546800"/>
            <a:ext cx="1979700" cy="458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4" name="Google Shape;514;p45"/>
          <p:cNvCxnSpPr/>
          <p:nvPr/>
        </p:nvCxnSpPr>
        <p:spPr>
          <a:xfrm flipH="1">
            <a:off x="6493025" y="2056125"/>
            <a:ext cx="203700" cy="9804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5" name="Google Shape;515;p45"/>
          <p:cNvSpPr txBox="1"/>
          <p:nvPr/>
        </p:nvSpPr>
        <p:spPr>
          <a:xfrm rot="1703636">
            <a:off x="4571941" y="2565206"/>
            <a:ext cx="1349439" cy="4617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comments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516" name="Google Shape;516;p45"/>
          <p:cNvSpPr txBox="1"/>
          <p:nvPr/>
        </p:nvSpPr>
        <p:spPr>
          <a:xfrm rot="-715917">
            <a:off x="4727663" y="1438681"/>
            <a:ext cx="1349457" cy="461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feedback</a:t>
            </a:r>
            <a:endParaRPr sz="1800">
              <a:solidFill>
                <a:srgbClr val="FF9900"/>
              </a:solidFill>
            </a:endParaRPr>
          </a:p>
        </p:txBody>
      </p:sp>
      <p:sp>
        <p:nvSpPr>
          <p:cNvPr id="517" name="Google Shape;517;p45"/>
          <p:cNvSpPr txBox="1"/>
          <p:nvPr/>
        </p:nvSpPr>
        <p:spPr>
          <a:xfrm rot="-4674635">
            <a:off x="5796029" y="2128882"/>
            <a:ext cx="1349325" cy="46178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9900"/>
                </a:solidFill>
              </a:rPr>
              <a:t>edits</a:t>
            </a:r>
            <a:endParaRPr sz="18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6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 Formular</a:t>
            </a:r>
            <a:endParaRPr/>
          </a:p>
        </p:txBody>
      </p:sp>
      <p:pic>
        <p:nvPicPr>
          <p:cNvPr id="523" name="Google Shape;5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321" y="1587074"/>
            <a:ext cx="2791725" cy="31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7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All Feedback and Issues can be managed in Jira</a:t>
            </a:r>
            <a:endParaRPr/>
          </a:p>
        </p:txBody>
      </p:sp>
      <p:pic>
        <p:nvPicPr>
          <p:cNvPr id="529" name="Google Shape;52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850" y="931725"/>
            <a:ext cx="4681116" cy="404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Mails with instructions</a:t>
            </a:r>
            <a:endParaRPr/>
          </a:p>
        </p:txBody>
      </p:sp>
      <p:sp>
        <p:nvSpPr>
          <p:cNvPr id="535" name="Google Shape;535;p48"/>
          <p:cNvSpPr txBox="1"/>
          <p:nvPr/>
        </p:nvSpPr>
        <p:spPr>
          <a:xfrm>
            <a:off x="311700" y="1022925"/>
            <a:ext cx="282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Who are the </a:t>
            </a:r>
            <a:r>
              <a:rPr lang="en" sz="1800">
                <a:solidFill>
                  <a:schemeClr val="dk2"/>
                </a:solidFill>
              </a:rPr>
              <a:t>recipients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36" name="Google Shape;53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8" y="1797650"/>
            <a:ext cx="3603575" cy="20449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48"/>
          <p:cNvSpPr/>
          <p:nvPr/>
        </p:nvSpPr>
        <p:spPr>
          <a:xfrm>
            <a:off x="181600" y="186500"/>
            <a:ext cx="5114100" cy="418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